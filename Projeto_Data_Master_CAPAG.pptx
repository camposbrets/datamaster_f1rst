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5" r:id="rId2"/>
    <p:sldId id="958" r:id="rId3"/>
    <p:sldId id="959" r:id="rId4"/>
    <p:sldId id="960" r:id="rId5"/>
    <p:sldId id="961" r:id="rId6"/>
    <p:sldId id="980" r:id="rId7"/>
    <p:sldId id="962" r:id="rId8"/>
    <p:sldId id="982" r:id="rId9"/>
    <p:sldId id="985" r:id="rId10"/>
    <p:sldId id="983" r:id="rId11"/>
    <p:sldId id="984" r:id="rId12"/>
    <p:sldId id="981" r:id="rId13"/>
    <p:sldId id="976" r:id="rId14"/>
    <p:sldId id="257" r:id="rId15"/>
    <p:sldId id="986" r:id="rId21"/>
    <p:sldId id="987" r:id="rId22"/>
    <p:sldId id="988" r:id="rId23"/>
    <p:sldId id="989" r:id="rId24"/>
    <p:sldId id="990" r:id="rId25"/>
    <p:sldId id="991" r:id="rId26"/>
    <p:sldId id="992" r:id="rId27"/>
    <p:sldId id="993" r:id="rId28"/>
    <p:sldId id="994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259216F1-E60B-4359-A98C-A8AD08B2FE24}">
          <p14:sldIdLst>
            <p14:sldId id="265"/>
            <p14:sldId id="958"/>
            <p14:sldId id="959"/>
            <p14:sldId id="960"/>
            <p14:sldId id="961"/>
            <p14:sldId id="980"/>
            <p14:sldId id="962"/>
            <p14:sldId id="982"/>
            <p14:sldId id="985"/>
            <p14:sldId id="983"/>
            <p14:sldId id="984"/>
            <p14:sldId id="981"/>
            <p14:sldId id="97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2338" autoAdjust="0"/>
  </p:normalViewPr>
  <p:slideViewPr>
    <p:cSldViewPr snapToGrid="0" snapToObjects="1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1A9A5-BB16-3947-B3B0-50FF9AAEAECE}" type="datetimeFigureOut">
              <a:rPr lang="pt-BR" smtClean="0"/>
              <a:t>23/07/2024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8EF53-41FB-1849-8131-C82B2E11D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870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960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87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988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821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993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641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654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326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736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686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385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8EF53-41FB-1849-8131-C82B2E11D05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092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79A1B-CAB9-5E46-91B2-DB2847F0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A0CD39-4A54-6A4E-9323-C1C738224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FE35172E-DDD3-B048-A441-2B31D9455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53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FC726D9B-9804-1140-BC52-C56896D08BA2}" type="slidenum">
              <a:rPr lang="pt-BR" smtClean="0"/>
              <a:pPr algn="ct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43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5BD02-D3A0-7B48-AACF-507E0EFDE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D0411F-E02F-964F-97A8-C7B8456E7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CFE97-DB19-4B4B-8703-9F5AD567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AB6F30-E0C8-664F-A7AA-EBB622CCC41A}" type="datetime1">
              <a:rPr lang="pt-BR" smtClean="0"/>
              <a:t>23/07/2024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351253-A8D5-B441-B077-2A32CFAC4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9E841A-271A-D541-8180-5BE9C104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85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847A6-E630-0048-9AC2-08D0059C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167581-7ED4-5D47-8726-E7AF8C85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51FCFF-FACA-0D43-AD6C-E4CFBEDA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1DA377-43AE-A843-91C9-BFAEBA6782C6}" type="datetime1">
              <a:rPr lang="pt-BR" smtClean="0"/>
              <a:t>23/07/2024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745B5-B86D-A645-92CD-0A725307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12803C-D095-F845-9915-C6179ED1B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80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688DD-B366-3C48-BE14-AA3B5078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FDCDA6-633B-6B41-A63E-8741FA03B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0C743A-59A8-F342-9899-D3FDB96AA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7FE259-E32D-6D43-AC3B-356C307D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380455-A913-F14A-A58F-CE2BCB60EE06}" type="datetime1">
              <a:rPr lang="pt-BR" smtClean="0"/>
              <a:t>23/07/2024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58294C-3AC4-144C-AD1E-CEC5E091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59404E-F2C1-5B47-AE9C-202F6906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33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A6E8D-8C0E-F846-9913-4FB399B7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E3AC30-3D3F-3745-90DF-5D59C6117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9D30EC-48CF-334D-A53C-F7FA2F25D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4F06F3-310D-EF45-AA0A-233CFAAC6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EFE5CF-97CF-0B4F-8FBC-E0E4A4445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5D245B-1E8B-E547-A3DA-91A7E09B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FE2C60-86CE-484C-B412-F6CC8B411A80}" type="datetime1">
              <a:rPr lang="pt-BR" smtClean="0"/>
              <a:t>23/07/2024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0566BEB-4002-5C47-911A-E44AFB5D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6B798F-1C85-6740-87D8-B3A401CA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Uma imagem contendo escuro, computer, placa, mulher&#10;&#10;Descrição gerada automaticamente">
            <a:extLst>
              <a:ext uri="{FF2B5EF4-FFF2-40B4-BE49-F238E27FC236}">
                <a16:creationId xmlns:a16="http://schemas.microsoft.com/office/drawing/2014/main" id="{130EEC8D-9563-584F-AE7D-B03D487C5B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81"/>
            <a:ext cx="12192000" cy="685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4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8FBB6-2346-644B-9171-774D7C3D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A4694D4-1A4C-B546-B4BA-A68C5720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8B3974-982F-8140-B6EE-0107B55B47AD}" type="datetime1">
              <a:rPr lang="pt-BR" smtClean="0"/>
              <a:t>23/07/2024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15428BA-9A78-4242-A42C-B3BC313E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9287AE-4483-2E42-B583-69593DD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A496D7-575C-E94D-B111-EB87BD1397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695" r="7695"/>
          <a:stretch/>
        </p:blipFill>
        <p:spPr>
          <a:xfrm>
            <a:off x="3440" y="0"/>
            <a:ext cx="1218856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99AD29F-3A60-8241-975E-DA57097D305B}"/>
              </a:ext>
            </a:extLst>
          </p:cNvPr>
          <p:cNvSpPr/>
          <p:nvPr userDrawn="1"/>
        </p:nvSpPr>
        <p:spPr>
          <a:xfrm>
            <a:off x="-344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24C2B1-4B0A-8846-8B62-786AC4585C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549" y="6511287"/>
            <a:ext cx="691142" cy="255273"/>
          </a:xfrm>
          <a:prstGeom prst="rect">
            <a:avLst/>
          </a:prstGeom>
        </p:spPr>
      </p:pic>
      <p:sp>
        <p:nvSpPr>
          <p:cNvPr id="9" name="Espaço Reservado para Número de Slide 1">
            <a:extLst>
              <a:ext uri="{FF2B5EF4-FFF2-40B4-BE49-F238E27FC236}">
                <a16:creationId xmlns:a16="http://schemas.microsoft.com/office/drawing/2014/main" id="{AD89ACC6-83FC-F945-B40A-BA49F82CC859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55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1">
            <a:extLst>
              <a:ext uri="{FF2B5EF4-FFF2-40B4-BE49-F238E27FC236}">
                <a16:creationId xmlns:a16="http://schemas.microsoft.com/office/drawing/2014/main" id="{F14F5028-6C2F-6C4D-9F6D-721CAF4BF9C6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0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9365CBC-55BE-BA45-8371-E785BE8902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" y="0"/>
            <a:ext cx="1218856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088CCC7C-4B75-374A-B476-BD9A717010C0}"/>
              </a:ext>
            </a:extLst>
          </p:cNvPr>
          <p:cNvSpPr/>
          <p:nvPr userDrawn="1"/>
        </p:nvSpPr>
        <p:spPr>
          <a:xfrm>
            <a:off x="0" y="0"/>
            <a:ext cx="82677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35000">
                <a:schemeClr val="tx1">
                  <a:alpha val="84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0C055D-F2B3-C040-A877-0968F724C1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523" y="6183084"/>
            <a:ext cx="1169290" cy="431875"/>
          </a:xfrm>
          <a:prstGeom prst="rect">
            <a:avLst/>
          </a:prstGeom>
        </p:spPr>
      </p:pic>
      <p:sp>
        <p:nvSpPr>
          <p:cNvPr id="11" name="Espaço Reservado para Número de Slide 1">
            <a:extLst>
              <a:ext uri="{FF2B5EF4-FFF2-40B4-BE49-F238E27FC236}">
                <a16:creationId xmlns:a16="http://schemas.microsoft.com/office/drawing/2014/main" id="{9460E149-3B39-8A43-AD13-6DEDAB1B5B61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0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935C724-F5C1-1246-8BB4-4541D26946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1BCDC44-7EEC-0F49-8CE2-E774FD684C6C}"/>
              </a:ext>
            </a:extLst>
          </p:cNvPr>
          <p:cNvSpPr/>
          <p:nvPr userDrawn="1"/>
        </p:nvSpPr>
        <p:spPr>
          <a:xfrm>
            <a:off x="0" y="0"/>
            <a:ext cx="82677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35000">
                <a:schemeClr val="tx1">
                  <a:alpha val="84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4ABF2C8-3B17-B94B-B8D4-5337A81609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523" y="6183084"/>
            <a:ext cx="1169290" cy="431875"/>
          </a:xfrm>
          <a:prstGeom prst="rect">
            <a:avLst/>
          </a:prstGeom>
        </p:spPr>
      </p:pic>
      <p:sp>
        <p:nvSpPr>
          <p:cNvPr id="11" name="Espaço Reservado para Número de Slide 1">
            <a:extLst>
              <a:ext uri="{FF2B5EF4-FFF2-40B4-BE49-F238E27FC236}">
                <a16:creationId xmlns:a16="http://schemas.microsoft.com/office/drawing/2014/main" id="{C804BD1D-EF85-0240-B16B-B5156E1582AE}"/>
              </a:ext>
            </a:extLst>
          </p:cNvPr>
          <p:cNvSpPr txBox="1">
            <a:spLocks/>
          </p:cNvSpPr>
          <p:nvPr userDrawn="1"/>
        </p:nvSpPr>
        <p:spPr>
          <a:xfrm>
            <a:off x="4724400" y="6485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D9B-9804-1140-BC52-C56896D08BA2}" type="slidenum">
              <a:rPr lang="pt-BR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97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364A776-DACC-B744-98BA-8A68DE45B3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B0598FE-C197-7A41-AEE7-57834EF117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1951" y="2542478"/>
            <a:ext cx="4384936" cy="16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9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10E965-FE6A-1C41-A0AE-AE9023D60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545D11-08BA-8540-9E1F-DC0B43DB7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517C86-3F06-0B47-991B-6C315A1B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F4836E-30A3-7344-A4E2-5BA42106A676}" type="datetime1">
              <a:rPr lang="pt-BR" smtClean="0"/>
              <a:t>23/07/2024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0362DB-081B-B34E-B19D-3E8B2AAB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A43BE-1E75-484A-8202-458AA119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D9B-9804-1140-BC52-C56896D08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367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8F5CB96-C519-3C48-A559-40B6F900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FA913-E08A-5F46-A242-33F2986B8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D1AF91-77F8-E140-86AD-726CC0355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53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FC726D9B-9804-1140-BC52-C56896D08BA2}" type="slidenum">
              <a:rPr lang="pt-BR" smtClean="0"/>
              <a:pPr algn="ct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41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39AE95A-3AC0-8B4B-A7AD-747C74D5108A}"/>
              </a:ext>
            </a:extLst>
          </p:cNvPr>
          <p:cNvSpPr txBox="1"/>
          <p:nvPr/>
        </p:nvSpPr>
        <p:spPr>
          <a:xfrm>
            <a:off x="511438" y="3429000"/>
            <a:ext cx="756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 Data Master - CAPAG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8CCBF4-9C48-4286-B178-B902871CF3D5}"/>
              </a:ext>
            </a:extLst>
          </p:cNvPr>
          <p:cNvSpPr txBox="1"/>
          <p:nvPr/>
        </p:nvSpPr>
        <p:spPr>
          <a:xfrm>
            <a:off x="511438" y="4455328"/>
            <a:ext cx="30013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</a:rPr>
              <a:t>Bruno Rafael de Campos</a:t>
            </a:r>
          </a:p>
          <a:p>
            <a:endParaRPr lang="pt-BR" sz="2200" dirty="0">
              <a:solidFill>
                <a:schemeClr val="bg1"/>
              </a:solidFill>
            </a:endParaRPr>
          </a:p>
          <a:p>
            <a:r>
              <a:rPr lang="pt-BR" sz="2200" dirty="0">
                <a:solidFill>
                  <a:schemeClr val="bg1"/>
                </a:solidFill>
              </a:rPr>
              <a:t>Estação 33</a:t>
            </a:r>
          </a:p>
          <a:p>
            <a:r>
              <a:rPr lang="pt-BR" sz="2200" dirty="0">
                <a:solidFill>
                  <a:schemeClr val="bg1"/>
                </a:solidFill>
              </a:rPr>
              <a:t>Intelig. Dados Gerenciais</a:t>
            </a:r>
          </a:p>
        </p:txBody>
      </p:sp>
    </p:spTree>
    <p:extLst>
      <p:ext uri="{BB962C8B-B14F-4D97-AF65-F5344CB8AC3E}">
        <p14:creationId xmlns:p14="http://schemas.microsoft.com/office/powerpoint/2010/main" val="3783644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3530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do Case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07179" y="1368392"/>
            <a:ext cx="110082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 objetivo deste case é realizar a ingestão, tratamento e visualização dos dados do arquivo CAPAG, que contém informações sobre a classificação de capacidade de pagamento dos municípios brasileiros. </a:t>
            </a:r>
          </a:p>
          <a:p>
            <a:pPr lvl="0" algn="just"/>
            <a:endParaRPr lang="pt-BR" sz="2400" dirty="0">
              <a:solidFill>
                <a:schemeClr val="bg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 processo CAPAG (Capacidade de Pagamento) no Brasil é um sistema de avaliação desenvolvido pela Secretaria do Tesouro Nacional (STN) para analisar a situação fiscal dos estados e municípios. Esse processo é essencial para determinar a capacidade das cidades de honrar suas dívidas e obter garantias da União para novos empréstimos. </a:t>
            </a:r>
          </a:p>
          <a:p>
            <a:pPr lvl="0" algn="just"/>
            <a:endParaRPr lang="pt-BR" sz="2400" dirty="0">
              <a:solidFill>
                <a:schemeClr val="bg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 projeto busca transformar esses dados brutos em informações valiosas, através de processos de ETL (</a:t>
            </a:r>
            <a:r>
              <a:rPr lang="pt-BR" sz="2400" dirty="0" err="1">
                <a:solidFill>
                  <a:schemeClr val="bg1"/>
                </a:solidFill>
              </a:rPr>
              <a:t>Extract</a:t>
            </a:r>
            <a:r>
              <a:rPr lang="pt-BR" sz="2400" dirty="0">
                <a:solidFill>
                  <a:schemeClr val="bg1"/>
                </a:solidFill>
              </a:rPr>
              <a:t>, </a:t>
            </a:r>
            <a:r>
              <a:rPr lang="pt-BR" sz="2400" dirty="0" err="1">
                <a:solidFill>
                  <a:schemeClr val="bg1"/>
                </a:solidFill>
              </a:rPr>
              <a:t>Transform</a:t>
            </a:r>
            <a:r>
              <a:rPr lang="pt-BR" sz="2400" dirty="0">
                <a:solidFill>
                  <a:schemeClr val="bg1"/>
                </a:solidFill>
              </a:rPr>
              <a:t>, </a:t>
            </a:r>
            <a:r>
              <a:rPr lang="pt-BR" sz="2400" dirty="0" err="1">
                <a:solidFill>
                  <a:schemeClr val="bg1"/>
                </a:solidFill>
              </a:rPr>
              <a:t>Load</a:t>
            </a:r>
            <a:r>
              <a:rPr lang="pt-BR" sz="2400" dirty="0">
                <a:solidFill>
                  <a:schemeClr val="bg1"/>
                </a:solidFill>
              </a:rPr>
              <a:t>) e exibição em dashboards interativos. </a:t>
            </a:r>
          </a:p>
        </p:txBody>
      </p:sp>
    </p:spTree>
    <p:extLst>
      <p:ext uri="{BB962C8B-B14F-4D97-AF65-F5344CB8AC3E}">
        <p14:creationId xmlns:p14="http://schemas.microsoft.com/office/powerpoint/2010/main" val="1704362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9191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Solução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11438" y="1304224"/>
            <a:ext cx="114867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pt-BR" sz="2400" dirty="0" err="1">
                <a:solidFill>
                  <a:schemeClr val="bg1"/>
                </a:solidFill>
              </a:rPr>
              <a:t>Datasets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it-IT" sz="2200" dirty="0">
                <a:solidFill>
                  <a:schemeClr val="bg1"/>
                </a:solidFill>
              </a:rPr>
              <a:t>CAPAG.txt / </a:t>
            </a:r>
            <a:r>
              <a:rPr lang="pt-BR" sz="2200" dirty="0" err="1">
                <a:solidFill>
                  <a:schemeClr val="bg1"/>
                </a:solidFill>
              </a:rPr>
              <a:t>cidades.json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Ingestão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Insumos transformados em </a:t>
            </a:r>
            <a:r>
              <a:rPr lang="pt-BR" sz="2200" i="1" dirty="0">
                <a:solidFill>
                  <a:schemeClr val="bg1"/>
                </a:solidFill>
              </a:rPr>
              <a:t>.</a:t>
            </a:r>
            <a:r>
              <a:rPr lang="pt-BR" sz="2200" i="1" dirty="0" err="1">
                <a:solidFill>
                  <a:schemeClr val="bg1"/>
                </a:solidFill>
              </a:rPr>
              <a:t>csv</a:t>
            </a:r>
            <a:r>
              <a:rPr lang="pt-BR" sz="2200" i="1" dirty="0">
                <a:solidFill>
                  <a:schemeClr val="bg1"/>
                </a:solidFill>
              </a:rPr>
              <a:t> </a:t>
            </a:r>
            <a:r>
              <a:rPr lang="pt-BR" sz="2200" dirty="0">
                <a:solidFill>
                  <a:schemeClr val="bg1"/>
                </a:solidFill>
              </a:rPr>
              <a:t>e enviados para o Google Cloud </a:t>
            </a:r>
            <a:r>
              <a:rPr lang="pt-BR" sz="2200" dirty="0" err="1">
                <a:solidFill>
                  <a:schemeClr val="bg1"/>
                </a:solidFill>
              </a:rPr>
              <a:t>Storage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Processamento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Dados carregados no </a:t>
            </a:r>
            <a:r>
              <a:rPr lang="pt-BR" sz="2200" dirty="0" err="1">
                <a:solidFill>
                  <a:schemeClr val="bg1"/>
                </a:solidFill>
              </a:rPr>
              <a:t>BigQuery</a:t>
            </a:r>
            <a:r>
              <a:rPr lang="pt-BR" sz="2200" dirty="0">
                <a:solidFill>
                  <a:schemeClr val="bg1"/>
                </a:solidFill>
              </a:rPr>
              <a:t>, processados e transformados pelo </a:t>
            </a:r>
            <a:r>
              <a:rPr lang="pt-BR" sz="2200" dirty="0" err="1">
                <a:solidFill>
                  <a:schemeClr val="bg1"/>
                </a:solidFill>
              </a:rPr>
              <a:t>dbt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Validação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Uso do SODA para validar a qualidade dos dados que foram transformados.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Visualização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Dashboards interativos no </a:t>
            </a:r>
            <a:r>
              <a:rPr lang="pt-BR" sz="2200" dirty="0" err="1">
                <a:solidFill>
                  <a:schemeClr val="bg1"/>
                </a:solidFill>
              </a:rPr>
              <a:t>Metabase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81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4692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Solução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07179" y="1368392"/>
            <a:ext cx="11177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Pipeline:</a:t>
            </a:r>
          </a:p>
          <a:p>
            <a:endParaRPr lang="pt-BR" sz="2400" dirty="0">
              <a:solidFill>
                <a:schemeClr val="bg1"/>
              </a:solidFill>
            </a:endParaRPr>
          </a:p>
        </p:txBody>
      </p:sp>
      <p:pic>
        <p:nvPicPr>
          <p:cNvPr id="7" name="Imagem 6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02C538F3-BE56-CBB1-7455-7F80A62BF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68" y="1981470"/>
            <a:ext cx="11006463" cy="385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9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40318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Técnica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CF32B-4A8D-0092-6062-83AF33BC1716}"/>
              </a:ext>
            </a:extLst>
          </p:cNvPr>
          <p:cNvSpPr txBox="1"/>
          <p:nvPr/>
        </p:nvSpPr>
        <p:spPr>
          <a:xfrm>
            <a:off x="511438" y="1397674"/>
            <a:ext cx="11104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Docker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para conteinerização e gerenciamento de ambientes.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Astro CLI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de linha de comando para gerenciamento do </a:t>
            </a:r>
            <a:r>
              <a:rPr lang="pt-BR" sz="2200" dirty="0" err="1">
                <a:solidFill>
                  <a:schemeClr val="bg1"/>
                </a:solidFill>
              </a:rPr>
              <a:t>Airflow</a:t>
            </a:r>
            <a:r>
              <a:rPr lang="pt-BR" sz="2200" dirty="0">
                <a:solidFill>
                  <a:schemeClr val="bg1"/>
                </a:solidFill>
              </a:rPr>
              <a:t>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bg1"/>
                </a:solidFill>
              </a:rPr>
              <a:t>Airflow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Plataforma para criar, agendar e monitorar workflows, utilizada para orquestração do pipeline de dados. </a:t>
            </a:r>
          </a:p>
        </p:txBody>
      </p:sp>
    </p:spTree>
    <p:extLst>
      <p:ext uri="{BB962C8B-B14F-4D97-AF65-F5344CB8AC3E}">
        <p14:creationId xmlns:p14="http://schemas.microsoft.com/office/powerpoint/2010/main" val="279229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8" y="453777"/>
            <a:ext cx="40318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Técnica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CF32B-4A8D-0092-6062-83AF33BC1716}"/>
              </a:ext>
            </a:extLst>
          </p:cNvPr>
          <p:cNvSpPr txBox="1"/>
          <p:nvPr/>
        </p:nvSpPr>
        <p:spPr>
          <a:xfrm>
            <a:off x="511438" y="1182304"/>
            <a:ext cx="1077286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Google Cloud Platform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Google Cloud </a:t>
            </a:r>
            <a:r>
              <a:rPr lang="pt-BR" sz="2200" dirty="0" err="1">
                <a:solidFill>
                  <a:schemeClr val="bg1"/>
                </a:solidFill>
              </a:rPr>
              <a:t>Storage</a:t>
            </a:r>
            <a:endParaRPr lang="pt-BR" sz="22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Armazenamento do arquivo CAPAG.csv e cidades.csv. 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BigQuery</a:t>
            </a:r>
            <a:endParaRPr lang="pt-BR" sz="22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Data </a:t>
            </a:r>
            <a:r>
              <a:rPr lang="pt-BR" sz="2000" dirty="0" err="1">
                <a:solidFill>
                  <a:schemeClr val="bg1"/>
                </a:solidFill>
              </a:rPr>
              <a:t>warehouse</a:t>
            </a:r>
            <a:r>
              <a:rPr lang="pt-BR" sz="2000" dirty="0">
                <a:solidFill>
                  <a:schemeClr val="bg1"/>
                </a:solidFill>
              </a:rPr>
              <a:t> utilizado para armazenar e processar os dados. </a:t>
            </a:r>
          </a:p>
          <a:p>
            <a:pPr lvl="2" algn="just"/>
            <a:endParaRPr lang="pt-BR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bg1"/>
                </a:solidFill>
              </a:rPr>
              <a:t>dbt</a:t>
            </a:r>
            <a:r>
              <a:rPr lang="pt-BR" sz="2400" dirty="0">
                <a:solidFill>
                  <a:schemeClr val="bg1"/>
                </a:solidFill>
              </a:rPr>
              <a:t> (Data Build Tool)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para transformação dos dados, escrita de modelos SQL e criação de tabelas no </a:t>
            </a:r>
            <a:r>
              <a:rPr lang="pt-BR" sz="2200" dirty="0" err="1">
                <a:solidFill>
                  <a:schemeClr val="bg1"/>
                </a:solidFill>
              </a:rPr>
              <a:t>BigQuery</a:t>
            </a:r>
            <a:r>
              <a:rPr lang="pt-BR" sz="2200" dirty="0">
                <a:solidFill>
                  <a:schemeClr val="bg1"/>
                </a:solidFill>
              </a:rPr>
              <a:t>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SODA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Ferramenta para validação e monitoramento da qualidade dos dados.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bg1"/>
                </a:solidFill>
              </a:rPr>
              <a:t>Metabase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Plataforma utilizada para criar e visualizar dashboards interativos.</a:t>
            </a:r>
          </a:p>
        </p:txBody>
      </p:sp>
    </p:spTree>
    <p:extLst>
      <p:ext uri="{BB962C8B-B14F-4D97-AF65-F5344CB8AC3E}">
        <p14:creationId xmlns:p14="http://schemas.microsoft.com/office/powerpoint/2010/main" val="267757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04224"/>
            <a:ext cx="11486702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Tratamento inicial dos insumos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Mudança de extensão dos </a:t>
            </a:r>
            <a:r>
              <a:rPr lang="pt-BR" sz="2200" dirty="0" err="1">
                <a:solidFill>
                  <a:schemeClr val="bg1"/>
                </a:solidFill>
              </a:rPr>
              <a:t>datasets</a:t>
            </a:r>
            <a:r>
              <a:rPr lang="pt-BR" sz="2200" dirty="0">
                <a:solidFill>
                  <a:schemeClr val="bg1"/>
                </a:solidFill>
              </a:rPr>
              <a:t> para </a:t>
            </a:r>
            <a:r>
              <a:rPr lang="pt-BR" sz="2200" i="1" dirty="0">
                <a:solidFill>
                  <a:schemeClr val="bg1"/>
                </a:solidFill>
              </a:rPr>
              <a:t>.</a:t>
            </a:r>
            <a:r>
              <a:rPr lang="pt-BR" sz="2200" i="1" dirty="0" err="1">
                <a:solidFill>
                  <a:schemeClr val="bg1"/>
                </a:solidFill>
              </a:rPr>
              <a:t>csv</a:t>
            </a:r>
            <a:endParaRPr lang="pt-BR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  <a:p>
            <a:pPr lvl="2"/>
            <a:endParaRPr lang="en-US" sz="1000" i="1" dirty="0">
              <a:solidFill>
                <a:schemeClr val="bg1"/>
              </a:solidFill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pt-BR" sz="2400" dirty="0">
                <a:solidFill>
                  <a:schemeClr val="bg1"/>
                </a:solidFill>
              </a:rPr>
              <a:t>Ingestão dos Arquivos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upload_capag_to_gcs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e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upload_cidades_to_gcs</a:t>
            </a:r>
            <a:endParaRPr lang="en-US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1"/>
                </a:solidFill>
              </a:rPr>
              <a:t>Insumos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carregados</a:t>
            </a:r>
            <a:r>
              <a:rPr lang="en-US" sz="2000" dirty="0">
                <a:solidFill>
                  <a:schemeClr val="bg1"/>
                </a:solidFill>
              </a:rPr>
              <a:t> no Google Cloud Storage.</a:t>
            </a:r>
          </a:p>
          <a:p>
            <a:pPr lvl="2" algn="just"/>
            <a:endParaRPr lang="en-US" sz="800" dirty="0">
              <a:solidFill>
                <a:schemeClr val="bg1"/>
              </a:solidFill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create_capag_dataset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e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create_cidades_dataset</a:t>
            </a:r>
            <a:endParaRPr lang="en-US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1"/>
                </a:solidFill>
              </a:rPr>
              <a:t>Criação</a:t>
            </a:r>
            <a:r>
              <a:rPr lang="en-US" sz="2000" dirty="0">
                <a:solidFill>
                  <a:schemeClr val="bg1"/>
                </a:solidFill>
              </a:rPr>
              <a:t> de datasets </a:t>
            </a:r>
            <a:r>
              <a:rPr lang="en-US" sz="2000" dirty="0" err="1">
                <a:solidFill>
                  <a:schemeClr val="bg1"/>
                </a:solidFill>
              </a:rPr>
              <a:t>vazios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lvl="2" algn="just"/>
            <a:endParaRPr lang="en-US" sz="800" dirty="0">
              <a:solidFill>
                <a:schemeClr val="bg1"/>
              </a:solidFill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gcs_to_raw_capag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e</a:t>
            </a:r>
            <a:r>
              <a:rPr lang="en-US" sz="2200" i="1" dirty="0">
                <a:solidFill>
                  <a:schemeClr val="bg1"/>
                </a:solidFill>
              </a:rPr>
              <a:t> </a:t>
            </a:r>
            <a:r>
              <a:rPr lang="en-US" sz="2200" i="1" dirty="0" err="1">
                <a:solidFill>
                  <a:schemeClr val="bg1"/>
                </a:solidFill>
              </a:rPr>
              <a:t>gcs_to_raw_cidades</a:t>
            </a:r>
            <a:endParaRPr lang="en-US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1"/>
                </a:solidFill>
              </a:rPr>
              <a:t>Criação</a:t>
            </a:r>
            <a:r>
              <a:rPr lang="en-US" sz="2000" dirty="0">
                <a:solidFill>
                  <a:schemeClr val="bg1"/>
                </a:solidFill>
              </a:rPr>
              <a:t> das </a:t>
            </a:r>
            <a:r>
              <a:rPr lang="en-US" sz="2000" dirty="0" err="1">
                <a:solidFill>
                  <a:schemeClr val="bg1"/>
                </a:solidFill>
              </a:rPr>
              <a:t>tabelas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capag_brasil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cidades_brasil</a:t>
            </a:r>
            <a:r>
              <a:rPr lang="en-US" sz="2000" dirty="0">
                <a:solidFill>
                  <a:schemeClr val="bg1"/>
                </a:solidFill>
              </a:rPr>
              <a:t> no </a:t>
            </a:r>
            <a:r>
              <a:rPr lang="en-US" sz="2000" dirty="0" err="1">
                <a:solidFill>
                  <a:schemeClr val="bg1"/>
                </a:solidFill>
              </a:rPr>
              <a:t>BigQuery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6A5921-70B2-4A19-408C-BDC1A41BE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04" y="2106284"/>
            <a:ext cx="8545591" cy="170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2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04224"/>
            <a:ext cx="1148670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bg1"/>
                </a:solidFill>
              </a:rPr>
              <a:t>3.   Criação de Tabelas </a:t>
            </a:r>
            <a:r>
              <a:rPr lang="pt-BR" sz="2400" dirty="0" err="1">
                <a:solidFill>
                  <a:schemeClr val="bg1"/>
                </a:solidFill>
              </a:rPr>
              <a:t>transform</a:t>
            </a:r>
            <a:r>
              <a:rPr lang="pt-BR" sz="2400" dirty="0">
                <a:solidFill>
                  <a:schemeClr val="bg1"/>
                </a:solidFill>
              </a:rPr>
              <a:t> no </a:t>
            </a:r>
            <a:r>
              <a:rPr lang="pt-BR" sz="2400" dirty="0" err="1">
                <a:solidFill>
                  <a:schemeClr val="bg1"/>
                </a:solidFill>
              </a:rPr>
              <a:t>BigQuery</a:t>
            </a:r>
            <a:r>
              <a:rPr lang="pt-BR" sz="2400" dirty="0">
                <a:solidFill>
                  <a:schemeClr val="bg1"/>
                </a:solidFill>
              </a:rPr>
              <a:t> com </a:t>
            </a:r>
            <a:r>
              <a:rPr lang="pt-BR" sz="2400" dirty="0" err="1">
                <a:solidFill>
                  <a:schemeClr val="bg1"/>
                </a:solidFill>
              </a:rPr>
              <a:t>dbt</a:t>
            </a:r>
            <a:endParaRPr lang="pt-BR" sz="2400" dirty="0">
              <a:solidFill>
                <a:schemeClr val="bg1"/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bg1"/>
              </a:solidFill>
            </a:endParaRPr>
          </a:p>
          <a:p>
            <a:pPr lvl="2"/>
            <a:endParaRPr lang="en-US" sz="2200" i="1" dirty="0">
              <a:solidFill>
                <a:schemeClr val="bg1"/>
              </a:solidFill>
            </a:endParaRPr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BDEBD6E7-DFBC-771D-5F30-6203A478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756" y="1793226"/>
            <a:ext cx="6917466" cy="48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091536"/>
            <a:ext cx="1145196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4"/>
            </a:pPr>
            <a:r>
              <a:rPr lang="pt-BR" sz="2400" dirty="0">
                <a:solidFill>
                  <a:schemeClr val="bg1"/>
                </a:solidFill>
              </a:rPr>
              <a:t>Validação dos dados com SODA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Dag </a:t>
            </a:r>
            <a:r>
              <a:rPr lang="pt-BR" sz="2200" i="1" dirty="0" err="1">
                <a:solidFill>
                  <a:schemeClr val="bg1"/>
                </a:solidFill>
              </a:rPr>
              <a:t>check_transform</a:t>
            </a:r>
            <a:endParaRPr lang="pt-BR" sz="2200" i="1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Executada em um ambiente Python externo (</a:t>
            </a:r>
            <a:r>
              <a:rPr lang="pt-BR" sz="2000" i="1" dirty="0">
                <a:solidFill>
                  <a:schemeClr val="bg1"/>
                </a:solidFill>
              </a:rPr>
              <a:t>@task.external_python</a:t>
            </a:r>
            <a:r>
              <a:rPr lang="pt-BR" sz="2000" dirty="0">
                <a:solidFill>
                  <a:schemeClr val="bg1"/>
                </a:solidFill>
              </a:rPr>
              <a:t>).</a:t>
            </a:r>
            <a:endParaRPr lang="pt-BR" sz="700" dirty="0">
              <a:solidFill>
                <a:schemeClr val="bg1"/>
              </a:solidFill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Validações como: formato de dados, dados únicos, valores nulos e extremos.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endParaRPr lang="pt-BR" sz="2200" dirty="0">
              <a:solidFill>
                <a:schemeClr val="bg1"/>
              </a:solidFill>
            </a:endParaRPr>
          </a:p>
          <a:p>
            <a:pPr marL="1371600" lvl="2" indent="-457200">
              <a:buFont typeface="Courier New" panose="02070309020205020404" pitchFamily="49" charset="0"/>
              <a:buChar char="o"/>
            </a:pPr>
            <a:endParaRPr lang="pt-BR" sz="2200" dirty="0">
              <a:solidFill>
                <a:schemeClr val="bg1"/>
              </a:solidFill>
            </a:endParaRPr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956B0F69-53C3-FA6C-567E-4D7048BAD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234" y="2512089"/>
            <a:ext cx="5091526" cy="424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9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42741"/>
            <a:ext cx="1102407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bg1"/>
                </a:solidFill>
              </a:rPr>
              <a:t>5.   Criação de Tabelas </a:t>
            </a:r>
            <a:r>
              <a:rPr lang="pt-BR" sz="2400" dirty="0" err="1">
                <a:solidFill>
                  <a:schemeClr val="bg1"/>
                </a:solidFill>
              </a:rPr>
              <a:t>report</a:t>
            </a:r>
            <a:r>
              <a:rPr lang="pt-BR" sz="2400" dirty="0">
                <a:solidFill>
                  <a:schemeClr val="bg1"/>
                </a:solidFill>
              </a:rPr>
              <a:t> no </a:t>
            </a:r>
            <a:r>
              <a:rPr lang="pt-BR" sz="2400" dirty="0" err="1">
                <a:solidFill>
                  <a:schemeClr val="bg1"/>
                </a:solidFill>
              </a:rPr>
              <a:t>BigQuery</a:t>
            </a:r>
            <a:r>
              <a:rPr lang="pt-BR" sz="2400" dirty="0">
                <a:solidFill>
                  <a:schemeClr val="bg1"/>
                </a:solidFill>
              </a:rPr>
              <a:t> com </a:t>
            </a:r>
            <a:r>
              <a:rPr lang="pt-BR" sz="2400" dirty="0" err="1">
                <a:solidFill>
                  <a:schemeClr val="bg1"/>
                </a:solidFill>
              </a:rPr>
              <a:t>dbt</a:t>
            </a:r>
            <a:endParaRPr lang="pt-BR" sz="2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Tabelas criadas através da </a:t>
            </a:r>
            <a:r>
              <a:rPr lang="pt-BR" sz="2200" dirty="0" err="1">
                <a:solidFill>
                  <a:schemeClr val="bg1"/>
                </a:solidFill>
              </a:rPr>
              <a:t>dag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pt-BR" sz="2200" i="1" dirty="0" err="1">
                <a:solidFill>
                  <a:schemeClr val="bg1"/>
                </a:solidFill>
              </a:rPr>
              <a:t>report</a:t>
            </a:r>
            <a:r>
              <a:rPr lang="pt-BR" sz="2200" dirty="0">
                <a:solidFill>
                  <a:schemeClr val="bg1"/>
                </a:solidFill>
              </a:rPr>
              <a:t>: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report_ind1_cidades_ano: As 10 cidades com o maior valor percentual referente ao indicador_1 (</a:t>
            </a:r>
            <a:r>
              <a:rPr lang="pt-BR" sz="2000" b="1" dirty="0">
                <a:solidFill>
                  <a:schemeClr val="bg1"/>
                </a:solidFill>
              </a:rPr>
              <a:t>endividamento</a:t>
            </a:r>
            <a:r>
              <a:rPr lang="pt-BR" sz="2000" dirty="0">
                <a:solidFill>
                  <a:schemeClr val="bg1"/>
                </a:solidFill>
              </a:rPr>
              <a:t>).</a:t>
            </a: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endParaRPr lang="pt-BR" sz="20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report_ind2_cidades_ano: As 10 cidades com o maior valor percentual referente ao indicador_2 (</a:t>
            </a:r>
            <a:r>
              <a:rPr lang="pt-BR" sz="2000" b="1" dirty="0">
                <a:solidFill>
                  <a:schemeClr val="bg1"/>
                </a:solidFill>
              </a:rPr>
              <a:t>poupança corrente</a:t>
            </a:r>
            <a:r>
              <a:rPr lang="pt-BR" sz="2000" dirty="0">
                <a:solidFill>
                  <a:schemeClr val="bg1"/>
                </a:solidFill>
              </a:rPr>
              <a:t>). 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endParaRPr lang="pt-BR" sz="20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report_ind3_cidades_ano: As 10 cidades com o maior valor percentual referente ao indicador_3 (</a:t>
            </a:r>
            <a:r>
              <a:rPr lang="pt-BR" sz="2000" b="1" dirty="0">
                <a:solidFill>
                  <a:schemeClr val="bg1"/>
                </a:solidFill>
              </a:rPr>
              <a:t>liquidez</a:t>
            </a:r>
            <a:r>
              <a:rPr lang="pt-BR" sz="2000" dirty="0">
                <a:solidFill>
                  <a:schemeClr val="bg1"/>
                </a:solidFill>
              </a:rPr>
              <a:t>). </a:t>
            </a: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endParaRPr lang="pt-BR" sz="2000" dirty="0">
              <a:solidFill>
                <a:schemeClr val="bg1"/>
              </a:solidFill>
            </a:endParaRPr>
          </a:p>
          <a:p>
            <a:pPr marL="1257300" lvl="2" indent="-342900" algn="just">
              <a:buFont typeface="Courier New" panose="02070309020205020404" pitchFamily="49" charset="0"/>
              <a:buChar char="o"/>
            </a:pPr>
            <a:r>
              <a:rPr lang="pt-BR" sz="2000" dirty="0" err="1">
                <a:solidFill>
                  <a:schemeClr val="bg1"/>
                </a:solidFill>
              </a:rPr>
              <a:t>report_classificacao_uf</a:t>
            </a:r>
            <a:r>
              <a:rPr lang="pt-BR" sz="2000" dirty="0">
                <a:solidFill>
                  <a:schemeClr val="bg1"/>
                </a:solidFill>
              </a:rPr>
              <a:t>: Os 10 estados brasileiros com o maior número de cidades com </a:t>
            </a:r>
            <a:r>
              <a:rPr lang="pt-BR" sz="2000" b="1" dirty="0">
                <a:solidFill>
                  <a:schemeClr val="bg1"/>
                </a:solidFill>
              </a:rPr>
              <a:t>classificação </a:t>
            </a:r>
            <a:r>
              <a:rPr lang="pt-BR" sz="2000" b="1" dirty="0" err="1">
                <a:solidFill>
                  <a:schemeClr val="bg1"/>
                </a:solidFill>
              </a:rPr>
              <a:t>capag</a:t>
            </a:r>
            <a:r>
              <a:rPr lang="pt-BR" sz="2000" b="1" dirty="0">
                <a:solidFill>
                  <a:schemeClr val="bg1"/>
                </a:solidFill>
              </a:rPr>
              <a:t> como A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9557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42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 sobre o Case Desenvolvido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82AFF-F701-84FF-0590-14AEBC07DA98}"/>
              </a:ext>
            </a:extLst>
          </p:cNvPr>
          <p:cNvSpPr txBox="1"/>
          <p:nvPr/>
        </p:nvSpPr>
        <p:spPr>
          <a:xfrm>
            <a:off x="511438" y="1349944"/>
            <a:ext cx="114519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dirty="0">
                <a:solidFill>
                  <a:schemeClr val="bg1"/>
                </a:solidFill>
              </a:rPr>
              <a:t>6.   Criação de Dashboard no </a:t>
            </a:r>
            <a:r>
              <a:rPr lang="pt-BR" sz="2400" dirty="0" err="1">
                <a:solidFill>
                  <a:schemeClr val="bg1"/>
                </a:solidFill>
              </a:rPr>
              <a:t>Metabase</a:t>
            </a:r>
            <a:endParaRPr lang="pt-BR" sz="2400" dirty="0">
              <a:solidFill>
                <a:schemeClr val="bg1"/>
              </a:solidFill>
            </a:endParaRPr>
          </a:p>
          <a:p>
            <a:endParaRPr lang="pt-BR" sz="2200" dirty="0">
              <a:solidFill>
                <a:schemeClr val="bg1"/>
              </a:solidFill>
            </a:endParaRPr>
          </a:p>
          <a:p>
            <a:endParaRPr lang="pt-BR" sz="2200" dirty="0">
              <a:solidFill>
                <a:schemeClr val="bg1"/>
              </a:solidFill>
            </a:endParaRPr>
          </a:p>
          <a:p>
            <a:endParaRPr lang="pt-BR" sz="2200" dirty="0">
              <a:solidFill>
                <a:schemeClr val="bg1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pt-BR" sz="2200" i="1" dirty="0">
              <a:solidFill>
                <a:schemeClr val="bg1"/>
              </a:solidFill>
            </a:endParaRPr>
          </a:p>
        </p:txBody>
      </p:sp>
      <p:pic>
        <p:nvPicPr>
          <p:cNvPr id="5" name="Imagem 4" descr="Interface gráfica do usuário, Gráfico&#10;&#10;Descrição gerada automaticamente">
            <a:extLst>
              <a:ext uri="{FF2B5EF4-FFF2-40B4-BE49-F238E27FC236}">
                <a16:creationId xmlns:a16="http://schemas.microsoft.com/office/drawing/2014/main" id="{FD2DE3E6-5C05-A496-971B-420380FE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585" y="1904368"/>
            <a:ext cx="9542829" cy="481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42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677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Melhorias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11439" y="1430959"/>
            <a:ext cx="110140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Automação do Pipeline de Dados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Atualização automática do arquivo CAPAG e a execução programada no </a:t>
            </a:r>
            <a:r>
              <a:rPr lang="pt-BR" sz="2200" dirty="0" err="1">
                <a:solidFill>
                  <a:schemeClr val="bg1"/>
                </a:solidFill>
              </a:rPr>
              <a:t>Airflow</a:t>
            </a:r>
            <a:r>
              <a:rPr lang="pt-BR" sz="2200" dirty="0">
                <a:solidFill>
                  <a:schemeClr val="bg1"/>
                </a:solidFill>
              </a:rPr>
              <a:t>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Criação de </a:t>
            </a:r>
            <a:r>
              <a:rPr lang="pt-BR" sz="2200" dirty="0" err="1">
                <a:solidFill>
                  <a:schemeClr val="bg1"/>
                </a:solidFill>
              </a:rPr>
              <a:t>DAGs</a:t>
            </a:r>
            <a:r>
              <a:rPr lang="pt-BR" sz="2200" dirty="0">
                <a:solidFill>
                  <a:schemeClr val="bg1"/>
                </a:solidFill>
              </a:rPr>
              <a:t> para a transformação da extensão em </a:t>
            </a:r>
            <a:r>
              <a:rPr lang="pt-BR" sz="2200" i="1" dirty="0">
                <a:solidFill>
                  <a:schemeClr val="bg1"/>
                </a:solidFill>
              </a:rPr>
              <a:t>.</a:t>
            </a:r>
            <a:r>
              <a:rPr lang="pt-BR" sz="2200" i="1" dirty="0" err="1">
                <a:solidFill>
                  <a:schemeClr val="bg1"/>
                </a:solidFill>
              </a:rPr>
              <a:t>csv</a:t>
            </a:r>
            <a:r>
              <a:rPr lang="pt-BR" sz="2200" i="1" dirty="0">
                <a:solidFill>
                  <a:schemeClr val="bg1"/>
                </a:solidFill>
              </a:rPr>
              <a:t> </a:t>
            </a:r>
            <a:r>
              <a:rPr lang="pt-BR" sz="2200" dirty="0">
                <a:solidFill>
                  <a:schemeClr val="bg1"/>
                </a:solidFill>
              </a:rPr>
              <a:t>dos arquivos de origem.</a:t>
            </a:r>
          </a:p>
          <a:p>
            <a:pPr lvl="1"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Monitoramento Contínuo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Utilizar o SODA para configurar alertas e monitoramento contínuo da qualidade dos dados.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Expansão das Visualizações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Adicionar mais tipos de visualizações no </a:t>
            </a:r>
            <a:r>
              <a:rPr lang="pt-BR" sz="2200" dirty="0" err="1">
                <a:solidFill>
                  <a:schemeClr val="bg1"/>
                </a:solidFill>
              </a:rPr>
              <a:t>Metabase</a:t>
            </a:r>
            <a:r>
              <a:rPr lang="pt-BR" sz="2200" dirty="0">
                <a:solidFill>
                  <a:schemeClr val="bg1"/>
                </a:solidFill>
              </a:rPr>
              <a:t> para obter insights mais profundos.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Incluir filtros dinâmicos para permitir uma análise mais detalhada dos dados.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35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5C868F-BB03-4183-A8D1-74CA61DAA3E6}"/>
              </a:ext>
            </a:extLst>
          </p:cNvPr>
          <p:cNvSpPr txBox="1"/>
          <p:nvPr/>
        </p:nvSpPr>
        <p:spPr>
          <a:xfrm>
            <a:off x="511439" y="453777"/>
            <a:ext cx="8677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Considerações Finais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9958256-7F1B-45D6-BA64-8E7D4287A3FD}"/>
              </a:ext>
            </a:extLst>
          </p:cNvPr>
          <p:cNvSpPr txBox="1"/>
          <p:nvPr/>
        </p:nvSpPr>
        <p:spPr>
          <a:xfrm>
            <a:off x="507179" y="1493139"/>
            <a:ext cx="1106852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Entendimento de como funciona o processo do CAPAG, essencial para avaliar a saúde fiscal dos estados e municípios, promovendo a responsabilidade fiscal e ajudando a manter a estabilidade econômica do país.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Capacidade de transformar dados brutos em informações valiosas através de um pipeline de ETL bem definido e ferramentas de Engenharia de Dados poderosas.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 utilização de tecnologias como </a:t>
            </a:r>
            <a:r>
              <a:rPr lang="pt-BR" sz="2400" dirty="0" err="1">
                <a:solidFill>
                  <a:schemeClr val="bg1"/>
                </a:solidFill>
              </a:rPr>
              <a:t>BigQuery</a:t>
            </a:r>
            <a:r>
              <a:rPr lang="pt-BR" sz="2400" dirty="0">
                <a:solidFill>
                  <a:schemeClr val="bg1"/>
                </a:solidFill>
              </a:rPr>
              <a:t>, </a:t>
            </a:r>
            <a:r>
              <a:rPr lang="pt-BR" sz="2400" dirty="0" err="1">
                <a:solidFill>
                  <a:schemeClr val="bg1"/>
                </a:solidFill>
              </a:rPr>
              <a:t>dbt</a:t>
            </a:r>
            <a:r>
              <a:rPr lang="pt-BR" sz="2400" dirty="0">
                <a:solidFill>
                  <a:schemeClr val="bg1"/>
                </a:solidFill>
              </a:rPr>
              <a:t>, SODA e </a:t>
            </a:r>
            <a:r>
              <a:rPr lang="pt-BR" sz="2400" dirty="0" err="1">
                <a:solidFill>
                  <a:schemeClr val="bg1"/>
                </a:solidFill>
              </a:rPr>
              <a:t>Metabase</a:t>
            </a:r>
            <a:r>
              <a:rPr lang="pt-BR" sz="2400" dirty="0">
                <a:solidFill>
                  <a:schemeClr val="bg1"/>
                </a:solidFill>
              </a:rPr>
              <a:t> permitiu a criação de um sistema robusto e escalável para análise de dados. 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Repositório:</a:t>
            </a:r>
            <a:endParaRPr lang="pt-BR" sz="800" dirty="0">
              <a:solidFill>
                <a:schemeClr val="bg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bg1"/>
                </a:solidFill>
              </a:rPr>
              <a:t>https://github.com/BretsCampos/DATA_MASTER</a:t>
            </a:r>
          </a:p>
        </p:txBody>
      </p:sp>
    </p:spTree>
    <p:extLst>
      <p:ext uri="{BB962C8B-B14F-4D97-AF65-F5344CB8AC3E}">
        <p14:creationId xmlns:p14="http://schemas.microsoft.com/office/powerpoint/2010/main" val="2417356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420596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Evolucao do Projeto - v2.0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Melhorias Implementadas: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Arquitetura Medalhao (Bronze / Silver / Gold)</a:t>
            </a:r>
          </a:p>
          <a:p>
            <a:pPr>
              <a:defRPr sz="1400"/>
            </a:pPr>
            <a:r>
              <a:t>  Nova fonte de dados: PIB Municipal (IBGE/SIDRA)</a:t>
            </a:r>
          </a:p>
          <a:p>
            <a:pPr>
              <a:defRPr sz="1400"/>
            </a:pPr>
            <a:r>
              <a:t>  Score de Risco Fiscal composto (0-100 pontos)</a:t>
            </a:r>
          </a:p>
          <a:p>
            <a:pPr>
              <a:defRPr sz="1400"/>
            </a:pPr>
            <a:r>
              <a:t>  Particionamento e clusterizacao no BigQuery</a:t>
            </a:r>
          </a:p>
          <a:p>
            <a:pPr>
              <a:defRPr sz="1400"/>
            </a:pPr>
            <a:r>
              <a:t>  Validacao SODA em todas as camadas</a:t>
            </a:r>
          </a:p>
          <a:p>
            <a:pPr>
              <a:defRPr sz="1400"/>
            </a:pPr>
            <a:r>
              <a:t>  Agente de Insights Automaticos</a:t>
            </a:r>
          </a:p>
          <a:p>
            <a:pPr>
              <a:defRPr sz="1400"/>
            </a:pPr>
            <a:r>
              <a:t>  Dashboards expandidos no Metabase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Fluxo atualizado:</a:t>
            </a:r>
          </a:p>
          <a:p>
            <a:pPr>
              <a:defRPr sz="1400"/>
            </a:pPr>
            <a:r>
              <a:t>download -&gt; GCS -&gt; BigQuery -&gt; Bronze -&gt; Silver -&gt; Gold -&gt; Insights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Medalhao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Bronze (views - sem custo de armazenamento)</a:t>
            </a:r>
          </a:p>
          <a:p>
            <a:pPr>
              <a:defRPr sz="1400"/>
            </a:pPr>
            <a:r>
              <a:t>  brz_capag_brasil, brz_cidades_brasil, brz_pib_municipal</a:t>
            </a:r>
          </a:p>
          <a:p>
            <a:pPr>
              <a:defRPr sz="1400"/>
            </a:pPr>
            <a:r>
              <a:t>  Espelham 1:1 os dados brutos do BigQuery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Silver (tabelas - limpeza e validacao)</a:t>
            </a:r>
          </a:p>
          <a:p>
            <a:pPr>
              <a:defRPr sz="1400"/>
            </a:pPr>
            <a:r>
              <a:t>  slv_capag_municipios: SAFE_CAST, dedup, particao por ano_base</a:t>
            </a:r>
          </a:p>
          <a:p>
            <a:pPr>
              <a:defRPr sz="1400"/>
            </a:pPr>
            <a:r>
              <a:t>  slv_pib_municipal: limpeza, dedup, particao por ano</a:t>
            </a:r>
          </a:p>
          <a:p>
            <a:pPr>
              <a:defRPr sz="1400"/>
            </a:pPr>
            <a:r>
              <a:t>  slv_cidades, slv_dim_uf, slv_dim_classificacao_capag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Gold (tabelas - modelos de negocio)</a:t>
            </a:r>
          </a:p>
          <a:p>
            <a:pPr>
              <a:defRPr sz="1400"/>
            </a:pPr>
            <a:r>
              <a:t>  3 dimensoes, 3 fatos (incl. risco fiscal), 6 reports</a:t>
            </a:r>
          </a:p>
          <a:p>
            <a:pPr>
              <a:defRPr sz="1400"/>
            </a:pPr>
            <a:r>
              <a:t>  Particionamento por ano + clusterizacao por UF/risco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Cruzamento CAPAG x PIB Municipal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Nova fonte: PIB Municipal (IBGE - tabela SIDRA 5938)</a:t>
            </a:r>
          </a:p>
          <a:p>
            <a:pPr>
              <a:defRPr sz="1400"/>
            </a:pPr>
            <a:r>
              <a:t>  Download automatico via biblioteca sidrapy</a:t>
            </a:r>
          </a:p>
          <a:p>
            <a:pPr>
              <a:defRPr sz="1400"/>
            </a:pPr>
            <a:r>
              <a:t>  Dados de todos os 5.569 municipios brasileiros</a:t>
            </a:r>
          </a:p>
          <a:p>
            <a:pPr>
              <a:defRPr sz="1400"/>
            </a:pPr>
            <a:r>
              <a:t>  Valor adicionado por setor, PIB total, PIB per capita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Cruzamento por: cod_ibge + ano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Permite responder:</a:t>
            </a:r>
          </a:p>
          <a:p>
            <a:pPr>
              <a:defRPr sz="1400"/>
            </a:pPr>
            <a:r>
              <a:t>  Municipios com alta divida E economia fraca = risco critico</a:t>
            </a:r>
          </a:p>
          <a:p>
            <a:pPr>
              <a:defRPr sz="1400"/>
            </a:pPr>
            <a:r>
              <a:t>  Correlacao entre PIB per capita e saude fiscal</a:t>
            </a:r>
          </a:p>
          <a:p>
            <a:pPr>
              <a:defRPr sz="1400"/>
            </a:pPr>
            <a:r>
              <a:t>  Como o porte do municipio influencia o risco</a:t>
            </a:r>
          </a:p>
          <a:p>
            <a:pPr>
              <a:defRPr sz="1400"/>
            </a:pPr>
            <a:r>
              <a:t>  Tendencias economicas vs indicadores fiscais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 de Risco Fiscal (0-100 pontos)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Componentes do score: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Classificacao CAPAG: 40 pts (A=40, B=25, C=10, D=0)</a:t>
            </a:r>
          </a:p>
          <a:p>
            <a:pPr>
              <a:defRPr sz="1400"/>
            </a:pPr>
            <a:r>
              <a:t>  Endividamento (DC/RCL): 20 pts (menor = melhor)</a:t>
            </a:r>
          </a:p>
          <a:p>
            <a:pPr>
              <a:defRPr sz="1400"/>
            </a:pPr>
            <a:r>
              <a:t>  Poupanca Corrente: 20 pts (maior = melhor)</a:t>
            </a:r>
          </a:p>
          <a:p>
            <a:pPr>
              <a:defRPr sz="1400"/>
            </a:pPr>
            <a:r>
              <a:t>  PIB per capita: 10 pts (maior = melhor)</a:t>
            </a:r>
          </a:p>
          <a:p>
            <a:pPr>
              <a:defRPr sz="1400"/>
            </a:pPr>
            <a:r>
              <a:t>  Crescimento do PIB: 10 pts (maior = melhor)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Classificacao de Risco:</a:t>
            </a:r>
          </a:p>
          <a:p>
            <a:pPr>
              <a:defRPr sz="1400"/>
            </a:pPr>
            <a:r>
              <a:t>  BAIXO: score &gt;= 80</a:t>
            </a:r>
          </a:p>
          <a:p>
            <a:pPr>
              <a:defRPr sz="1400"/>
            </a:pPr>
            <a:r>
              <a:t>  MODERADO: score &gt;= 60</a:t>
            </a:r>
          </a:p>
          <a:p>
            <a:pPr>
              <a:defRPr sz="1400"/>
            </a:pPr>
            <a:r>
              <a:t>  ELEVADO: score &gt;= 40</a:t>
            </a:r>
          </a:p>
          <a:p>
            <a:pPr>
              <a:defRPr sz="1400"/>
            </a:pPr>
            <a:r>
              <a:t>  CRITICO: score &lt;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Particionamento e Clusterizacao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Tabelas particionadas por ano (INT64 range partition):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slv_capag_municipios: particao por ano_base (2015-2030)</a:t>
            </a:r>
          </a:p>
          <a:p>
            <a:pPr>
              <a:defRPr sz="1400"/>
            </a:pPr>
            <a:r>
              <a:t>  slv_pib_municipal: particao por ano (2002-2030)</a:t>
            </a:r>
          </a:p>
          <a:p>
            <a:pPr>
              <a:defRPr sz="1400"/>
            </a:pPr>
            <a:r>
              <a:t>  gld_fato_indicadores_capag: particao por ano_base</a:t>
            </a:r>
          </a:p>
          <a:p>
            <a:pPr>
              <a:defRPr sz="1400"/>
            </a:pPr>
            <a:r>
              <a:t>  gld_fato_pib_municipal: particao por ano</a:t>
            </a:r>
          </a:p>
          <a:p>
            <a:pPr>
              <a:defRPr sz="1400"/>
            </a:pPr>
            <a:r>
              <a:t>  gld_fato_risco_fiscal: particao por ano_base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Clusterizacao para otimizar queries:</a:t>
            </a:r>
          </a:p>
          <a:p>
            <a:pPr>
              <a:defRPr sz="1400"/>
            </a:pPr>
            <a:r>
              <a:t>  gld_fato_indicadores_capag: cluster por uf_id, classificacao</a:t>
            </a:r>
          </a:p>
          <a:p>
            <a:pPr>
              <a:defRPr sz="1400"/>
            </a:pPr>
            <a:r>
              <a:t>  gld_fato_risco_fiscal: cluster por classificacao_risco, uf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Beneficio: queries filtradas por ano/UF sao muito mais rapidas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Validacao SODA por Camada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Bronze: validacao de schema e existencia de dados</a:t>
            </a:r>
          </a:p>
          <a:p>
            <a:pPr>
              <a:defRPr sz="1400"/>
            </a:pPr>
            <a:r>
              <a:t>  Schema check: colunas obrigatorias presentes</a:t>
            </a:r>
          </a:p>
          <a:p>
            <a:pPr>
              <a:defRPr sz="1400"/>
            </a:pPr>
            <a:r>
              <a:t>  Row count &gt; 0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Silver: qualidade dos dados limpos</a:t>
            </a:r>
          </a:p>
          <a:p>
            <a:pPr>
              <a:defRPr sz="1400"/>
            </a:pPr>
            <a:r>
              <a:t>  Sem duplicatas (surrogate key unique)</a:t>
            </a:r>
          </a:p>
          <a:p>
            <a:pPr>
              <a:defRPr sz="1400"/>
            </a:pPr>
            <a:r>
              <a:t>  Sem nulls em chaves (cod_ibge, ano_base)</a:t>
            </a:r>
          </a:p>
          <a:p>
            <a:pPr>
              <a:defRPr sz="1400"/>
            </a:pPr>
            <a:r>
              <a:t>  UF com exatamente 2 caracteres</a:t>
            </a:r>
          </a:p>
          <a:p>
            <a:pPr>
              <a:defRPr sz="1400"/>
            </a:pPr>
            <a:r>
              <a:t>  PIB nao negativo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Gold: regras de negocio</a:t>
            </a:r>
          </a:p>
          <a:p>
            <a:pPr>
              <a:defRPr sz="1400"/>
            </a:pPr>
            <a:r>
              <a:t>  Score de risco entre 0 e 100</a:t>
            </a:r>
          </a:p>
          <a:p>
            <a:pPr>
              <a:defRPr sz="1400"/>
            </a:pPr>
            <a:r>
              <a:t>  Classificacao de risco em valores validos</a:t>
            </a:r>
          </a:p>
          <a:p>
            <a:pPr>
              <a:defRPr sz="1400"/>
            </a:pPr>
            <a:r>
              <a:t>  Todo municipio tem score calculado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Agente de Insights Automaticos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Task no Airflow que gera narrativas em linguagem natural</a:t>
            </a:r>
          </a:p>
          <a:p>
            <a:pPr>
              <a:defRPr sz="1400"/>
            </a:pPr>
            <a:r>
              <a:t>Salva na tabela gold.insights_risco_fiscal (BigQuery)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6 tipos de insights gerados automaticamente: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Resumo Geral: panorama fiscal, score medio, distribuicao</a:t>
            </a:r>
          </a:p>
          <a:p>
            <a:pPr>
              <a:defRPr sz="1400"/>
            </a:pPr>
            <a:r>
              <a:t>  Alerta de Risco: top 10 municipios em situacao critica</a:t>
            </a:r>
          </a:p>
          <a:p>
            <a:pPr>
              <a:defRPr sz="1400"/>
            </a:pPr>
            <a:r>
              <a:t>  Destaque Positivo: top 10 com melhor saude fiscal</a:t>
            </a:r>
          </a:p>
          <a:p>
            <a:pPr>
              <a:defRPr sz="1400"/>
            </a:pPr>
            <a:r>
              <a:t>  Analise Regional: estados com mais risco concentrado</a:t>
            </a:r>
          </a:p>
          <a:p>
            <a:pPr>
              <a:defRPr sz="1400"/>
            </a:pPr>
            <a:r>
              <a:t>  Tendencias: evolucao YoY (melhorias vs pioras)</a:t>
            </a:r>
          </a:p>
          <a:p>
            <a:pPr>
              <a:defRPr sz="1400"/>
            </a:pPr>
            <a:r>
              <a:t>  Correlacao: porte do municipio vs risco fiscal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Visualizacao: card no Metabase com narrativas prontas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Dashboards no Metabase (Expandidos)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5 dashboards com filtros dinamicos (UF, Ano, Risco, Populacao):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Painel de Risco Fiscal Municipal</a:t>
            </a:r>
          </a:p>
          <a:p>
            <a:pPr>
              <a:defRPr sz="1400"/>
            </a:pPr>
            <a:r>
              <a:t>   Pizza de distribuicao, Top 10, Gauge de score, Mapa por UF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Tendencias Anuais</a:t>
            </a:r>
          </a:p>
          <a:p>
            <a:pPr>
              <a:defRPr sz="1400"/>
            </a:pPr>
            <a:r>
              <a:t>   Grafico de linha (evolucao), Barras (melhoria vs piora)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CAPAG vs PIB</a:t>
            </a:r>
          </a:p>
          <a:p>
            <a:pPr>
              <a:defRPr sz="1400"/>
            </a:pPr>
            <a:r>
              <a:t>   Scatter PIB x Score, Barras por faixa populacional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Visao Estadual</a:t>
            </a:r>
          </a:p>
          <a:p>
            <a:pPr>
              <a:defRPr sz="1400"/>
            </a:pPr>
            <a:r>
              <a:t>   Ranking de estados, % municipios em risco alto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5. Insights Automaticos</a:t>
            </a:r>
          </a:p>
          <a:p>
            <a:pPr>
              <a:defRPr sz="1400"/>
            </a:pPr>
            <a:r>
              <a:t>   Narrativas geradas pelo agente de insights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Tecnologica Completa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Docker + Astro CLI: containerizacao do ambiente</a:t>
            </a:r>
          </a:p>
          <a:p>
            <a:pPr>
              <a:defRPr sz="1400"/>
            </a:pPr>
            <a:r>
              <a:t>Apache Airflow: orquestracao do pipeline</a:t>
            </a:r>
          </a:p>
          <a:p>
            <a:pPr>
              <a:defRPr sz="1400"/>
            </a:pPr>
            <a:r>
              <a:t>Google Cloud Storage: armazenamento de arquivos</a:t>
            </a:r>
          </a:p>
          <a:p>
            <a:pPr>
              <a:defRPr sz="1400"/>
            </a:pPr>
            <a:r>
              <a:t>BigQuery: data warehouse (bronze, silver, gold)</a:t>
            </a:r>
          </a:p>
          <a:p>
            <a:pPr>
              <a:defRPr sz="1400"/>
            </a:pPr>
            <a:r>
              <a:t>dbt (Data Build Tool): transformacao (Arquitetura Medalhao)</a:t>
            </a:r>
          </a:p>
          <a:p>
            <a:pPr>
              <a:defRPr sz="1400"/>
            </a:pPr>
            <a:r>
              <a:t>dbt_utils: surrogate keys, testes</a:t>
            </a:r>
          </a:p>
          <a:p>
            <a:pPr>
              <a:defRPr sz="1400"/>
            </a:pPr>
            <a:r>
              <a:t>SODA: validacao de qualidade por camada</a:t>
            </a:r>
          </a:p>
          <a:p>
            <a:pPr>
              <a:defRPr sz="1400"/>
            </a:pPr>
            <a:r>
              <a:t>Metabase: dashboards interativos</a:t>
            </a:r>
          </a:p>
          <a:p>
            <a:pPr>
              <a:defRPr sz="1400"/>
            </a:pPr>
            <a:r>
              <a:t>Python: download automatico, insights</a:t>
            </a:r>
          </a:p>
          <a:p>
            <a:pPr>
              <a:defRPr sz="1400"/>
            </a:pPr>
            <a:r>
              <a:t>sidrapy: integracao com API SIDRA/IBGE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Total: 20 modelos dbt + 5 checks SODA + 1 agente de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19910</TotalTime>
  <Words>785</Words>
  <Application>Microsoft Office PowerPoint</Application>
  <PresentationFormat>Widescreen</PresentationFormat>
  <Paragraphs>126</Paragraphs>
  <Slides>14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Araujo Silva</dc:creator>
  <cp:lastModifiedBy>Thalitta Careli</cp:lastModifiedBy>
  <cp:revision>232</cp:revision>
  <dcterms:created xsi:type="dcterms:W3CDTF">2021-07-28T15:43:43Z</dcterms:created>
  <dcterms:modified xsi:type="dcterms:W3CDTF">2024-07-25T12:18:54Z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2024-07-12T16:59:49Z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f2b701c6-69c3-4910-81c0-9a21f37fce09</vt:lpwstr>
  </property>
  <property fmtid="{D5CDD505-2E9C-101B-9397-08002B2CF9AE}" pid="8" name="MSIP_Label_41b88ec2-a72b-4523-9e84-0458a1764731_ContentBits">
    <vt:lpwstr>0</vt:lpwstr>
  </property>
</Properties>
</file>