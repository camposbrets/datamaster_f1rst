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65" r:id="rId2"/>
    <p:sldId id="958" r:id="rId3"/>
    <p:sldId id="959" r:id="rId4"/>
    <p:sldId id="960" r:id="rId5"/>
    <p:sldId id="961" r:id="rId6"/>
    <p:sldId id="980" r:id="rId7"/>
    <p:sldId id="962" r:id="rId8"/>
    <p:sldId id="982" r:id="rId9"/>
    <p:sldId id="985" r:id="rId10"/>
    <p:sldId id="983" r:id="rId11"/>
    <p:sldId id="984" r:id="rId12"/>
    <p:sldId id="981" r:id="rId13"/>
    <p:sldId id="976" r:id="rId14"/>
    <p:sldId id="257" r:id="rId1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259216F1-E60B-4359-A98C-A8AD08B2FE24}">
          <p14:sldIdLst>
            <p14:sldId id="265"/>
            <p14:sldId id="958"/>
            <p14:sldId id="959"/>
            <p14:sldId id="960"/>
            <p14:sldId id="961"/>
            <p14:sldId id="980"/>
            <p14:sldId id="962"/>
            <p14:sldId id="982"/>
            <p14:sldId id="985"/>
            <p14:sldId id="983"/>
            <p14:sldId id="984"/>
            <p14:sldId id="981"/>
            <p14:sldId id="976"/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00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505E3EF-67EA-436B-97B2-0124C06EBD24}" styleName="Estilo Médio 4 - Ênfase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CF1AB2-1976-4502-BF36-3FF5EA218861}" styleName="Estilo Médio 4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2338" autoAdjust="0"/>
  </p:normalViewPr>
  <p:slideViewPr>
    <p:cSldViewPr snapToGrid="0" snapToObjects="1">
      <p:cViewPr varScale="1">
        <p:scale>
          <a:sx n="76" d="100"/>
          <a:sy n="76" d="100"/>
        </p:scale>
        <p:origin x="917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91A9A5-BB16-3947-B3B0-50FF9AAEAECE}" type="datetimeFigureOut">
              <a:rPr lang="pt-BR" smtClean="0"/>
              <a:t>23/07/2024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F8EF53-41FB-1849-8131-C82B2E11D0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7870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8EF53-41FB-1849-8131-C82B2E11D056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19605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8EF53-41FB-1849-8131-C82B2E11D056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88756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8EF53-41FB-1849-8131-C82B2E11D056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59885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8EF53-41FB-1849-8131-C82B2E11D056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08217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8EF53-41FB-1849-8131-C82B2E11D056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19938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8EF53-41FB-1849-8131-C82B2E11D056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26416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8EF53-41FB-1849-8131-C82B2E11D056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96549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8EF53-41FB-1849-8131-C82B2E11D056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13262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8EF53-41FB-1849-8131-C82B2E11D056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87361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8EF53-41FB-1849-8131-C82B2E11D056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26862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8EF53-41FB-1849-8131-C82B2E11D056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43858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8EF53-41FB-1849-8131-C82B2E11D056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1092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D79A1B-CAB9-5E46-91B2-DB2847F0E4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BA0CD39-4A54-6A4E-9323-C1C738224C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8" name="Espaço Reservado para Número de Slide 5">
            <a:extLst>
              <a:ext uri="{FF2B5EF4-FFF2-40B4-BE49-F238E27FC236}">
                <a16:creationId xmlns:a16="http://schemas.microsoft.com/office/drawing/2014/main" id="{FE35172E-DDD3-B048-A441-2B31D9455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9530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/>
            <a:fld id="{FC726D9B-9804-1140-BC52-C56896D08BA2}" type="slidenum">
              <a:rPr lang="pt-BR" smtClean="0"/>
              <a:pPr algn="ctr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1430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05BD02-D3A0-7B48-AACF-507E0EFDE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D0411F-E02F-964F-97A8-C7B8456E77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06CFE97-DB19-4B4B-8703-9F5AD56769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AB6F30-E0C8-664F-A7AA-EBB622CCC41A}" type="datetime1">
              <a:rPr lang="pt-BR" smtClean="0"/>
              <a:t>23/07/2024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3351253-A8D5-B441-B077-2A32CFAC4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99E841A-271A-D541-8180-5BE9C104C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D9B-9804-1140-BC52-C56896D08B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0853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E847A6-E630-0048-9AC2-08D0059CD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3167581-7ED4-5D47-8726-E7AF8C853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851FCFF-FACA-0D43-AD6C-E4CFBEDA6B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61DA377-43AE-A843-91C9-BFAEBA6782C6}" type="datetime1">
              <a:rPr lang="pt-BR" smtClean="0"/>
              <a:t>23/07/2024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F9745B5-B86D-A645-92CD-0A7253075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512803C-D095-F845-9915-C6179ED1B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D9B-9804-1140-BC52-C56896D08B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3807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E688DD-B366-3C48-BE14-AA3B50784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FFDCDA6-633B-6B41-A63E-8741FA03BE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D0C743A-59A8-F342-9899-D3FDB96AA2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17FE259-E32D-6D43-AC3B-356C307D68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C380455-A913-F14A-A58F-CE2BCB60EE06}" type="datetime1">
              <a:rPr lang="pt-BR" smtClean="0"/>
              <a:t>23/07/2024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558294C-3AC4-144C-AD1E-CEC5E091F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A59404E-F2C1-5B47-AE9C-202F6906C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D9B-9804-1140-BC52-C56896D08B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3338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DA6E8D-8C0E-F846-9913-4FB399B71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DE3AC30-3D3F-3745-90DF-5D59C6117D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B9D30EC-48CF-334D-A53C-F7FA2F25D6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64F06F3-310D-EF45-AA0A-233CFAAC69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2EFE5CF-97CF-0B4F-8FBC-E0E4A44455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55D245B-1E8B-E547-A3DA-91A7E09B83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FE2C60-86CE-484C-B412-F6CC8B411A80}" type="datetime1">
              <a:rPr lang="pt-BR" smtClean="0"/>
              <a:t>23/07/2024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0566BEB-4002-5C47-911A-E44AFB5D1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86B798F-1C85-6740-87D8-B3A401CA0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D9B-9804-1140-BC52-C56896D08BA2}" type="slidenum">
              <a:rPr lang="pt-BR" smtClean="0"/>
              <a:t>‹nº›</a:t>
            </a:fld>
            <a:endParaRPr lang="pt-BR"/>
          </a:p>
        </p:txBody>
      </p:sp>
      <p:pic>
        <p:nvPicPr>
          <p:cNvPr id="10" name="Imagem 9" descr="Uma imagem contendo escuro, computer, placa, mulher&#10;&#10;Descrição gerada automaticamente">
            <a:extLst>
              <a:ext uri="{FF2B5EF4-FFF2-40B4-BE49-F238E27FC236}">
                <a16:creationId xmlns:a16="http://schemas.microsoft.com/office/drawing/2014/main" id="{130EEC8D-9563-584F-AE7D-B03D487C5B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681"/>
            <a:ext cx="12192000" cy="6854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642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F8FBB6-2346-644B-9171-774D7C3DC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A4694D4-1A4C-B546-B4BA-A68C572029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8B3974-982F-8140-B6EE-0107B55B47AD}" type="datetime1">
              <a:rPr lang="pt-BR" smtClean="0"/>
              <a:t>23/07/2024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15428BA-9A78-4242-A42C-B3BC313E3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99287AE-4483-2E42-B583-69593DD10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D9B-9804-1140-BC52-C56896D08BA2}" type="slidenum">
              <a:rPr lang="pt-BR" smtClean="0"/>
              <a:t>‹nº›</a:t>
            </a:fld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8A496D7-575C-E94D-B111-EB87BD1397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695" r="7695"/>
          <a:stretch/>
        </p:blipFill>
        <p:spPr>
          <a:xfrm>
            <a:off x="3440" y="0"/>
            <a:ext cx="12188560" cy="6858000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F99AD29F-3A60-8241-975E-DA57097D305B}"/>
              </a:ext>
            </a:extLst>
          </p:cNvPr>
          <p:cNvSpPr/>
          <p:nvPr userDrawn="1"/>
        </p:nvSpPr>
        <p:spPr>
          <a:xfrm>
            <a:off x="-3440" y="0"/>
            <a:ext cx="12192000" cy="6858000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C24C2B1-4B0A-8846-8B62-786AC4585C6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1549" y="6511287"/>
            <a:ext cx="691142" cy="255273"/>
          </a:xfrm>
          <a:prstGeom prst="rect">
            <a:avLst/>
          </a:prstGeom>
        </p:spPr>
      </p:pic>
      <p:sp>
        <p:nvSpPr>
          <p:cNvPr id="9" name="Espaço Reservado para Número de Slide 1">
            <a:extLst>
              <a:ext uri="{FF2B5EF4-FFF2-40B4-BE49-F238E27FC236}">
                <a16:creationId xmlns:a16="http://schemas.microsoft.com/office/drawing/2014/main" id="{AD89ACC6-83FC-F945-B40A-BA49F82CC859}"/>
              </a:ext>
            </a:extLst>
          </p:cNvPr>
          <p:cNvSpPr txBox="1">
            <a:spLocks/>
          </p:cNvSpPr>
          <p:nvPr userDrawn="1"/>
        </p:nvSpPr>
        <p:spPr>
          <a:xfrm>
            <a:off x="4724400" y="648504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C726D9B-9804-1140-BC52-C56896D08BA2}" type="slidenum">
              <a:rPr lang="pt-BR" sz="1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‹nº›</a:t>
            </a:fld>
            <a:endParaRPr lang="pt-BR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4556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1">
            <a:extLst>
              <a:ext uri="{FF2B5EF4-FFF2-40B4-BE49-F238E27FC236}">
                <a16:creationId xmlns:a16="http://schemas.microsoft.com/office/drawing/2014/main" id="{F14F5028-6C2F-6C4D-9F6D-721CAF4BF9C6}"/>
              </a:ext>
            </a:extLst>
          </p:cNvPr>
          <p:cNvSpPr txBox="1">
            <a:spLocks/>
          </p:cNvSpPr>
          <p:nvPr userDrawn="1"/>
        </p:nvSpPr>
        <p:spPr>
          <a:xfrm>
            <a:off x="4724400" y="648504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C726D9B-9804-1140-BC52-C56896D08BA2}" type="slidenum">
              <a:rPr lang="pt-BR" sz="100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‹nº›</a:t>
            </a:fld>
            <a:endParaRPr lang="pt-BR" sz="10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4209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59365CBC-55BE-BA45-8371-E785BE8902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20" y="0"/>
            <a:ext cx="12188560" cy="6858000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088CCC7C-4B75-374A-B476-BD9A717010C0}"/>
              </a:ext>
            </a:extLst>
          </p:cNvPr>
          <p:cNvSpPr/>
          <p:nvPr userDrawn="1"/>
        </p:nvSpPr>
        <p:spPr>
          <a:xfrm>
            <a:off x="0" y="0"/>
            <a:ext cx="8267700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0"/>
                </a:schemeClr>
              </a:gs>
              <a:gs pos="35000">
                <a:schemeClr val="tx1">
                  <a:alpha val="84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A10C055D-F2B3-C040-A877-0968F724C17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8523" y="6183084"/>
            <a:ext cx="1169290" cy="431875"/>
          </a:xfrm>
          <a:prstGeom prst="rect">
            <a:avLst/>
          </a:prstGeom>
        </p:spPr>
      </p:pic>
      <p:sp>
        <p:nvSpPr>
          <p:cNvPr id="11" name="Espaço Reservado para Número de Slide 1">
            <a:extLst>
              <a:ext uri="{FF2B5EF4-FFF2-40B4-BE49-F238E27FC236}">
                <a16:creationId xmlns:a16="http://schemas.microsoft.com/office/drawing/2014/main" id="{9460E149-3B39-8A43-AD13-6DEDAB1B5B61}"/>
              </a:ext>
            </a:extLst>
          </p:cNvPr>
          <p:cNvSpPr txBox="1">
            <a:spLocks/>
          </p:cNvSpPr>
          <p:nvPr userDrawn="1"/>
        </p:nvSpPr>
        <p:spPr>
          <a:xfrm>
            <a:off x="4724400" y="648504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C726D9B-9804-1140-BC52-C56896D08BA2}" type="slidenum">
              <a:rPr lang="pt-BR" sz="1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‹nº›</a:t>
            </a:fld>
            <a:endParaRPr lang="pt-BR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0100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F935C724-F5C1-1246-8BB4-4541D26946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11BCDC44-7EEC-0F49-8CE2-E774FD684C6C}"/>
              </a:ext>
            </a:extLst>
          </p:cNvPr>
          <p:cNvSpPr/>
          <p:nvPr userDrawn="1"/>
        </p:nvSpPr>
        <p:spPr>
          <a:xfrm>
            <a:off x="0" y="0"/>
            <a:ext cx="8267700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0"/>
                </a:schemeClr>
              </a:gs>
              <a:gs pos="35000">
                <a:schemeClr val="tx1">
                  <a:alpha val="84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D4ABF2C8-3B17-B94B-B8D4-5337A81609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8523" y="6183084"/>
            <a:ext cx="1169290" cy="431875"/>
          </a:xfrm>
          <a:prstGeom prst="rect">
            <a:avLst/>
          </a:prstGeom>
        </p:spPr>
      </p:pic>
      <p:sp>
        <p:nvSpPr>
          <p:cNvPr id="11" name="Espaço Reservado para Número de Slide 1">
            <a:extLst>
              <a:ext uri="{FF2B5EF4-FFF2-40B4-BE49-F238E27FC236}">
                <a16:creationId xmlns:a16="http://schemas.microsoft.com/office/drawing/2014/main" id="{C804BD1D-EF85-0240-B16B-B5156E1582AE}"/>
              </a:ext>
            </a:extLst>
          </p:cNvPr>
          <p:cNvSpPr txBox="1">
            <a:spLocks/>
          </p:cNvSpPr>
          <p:nvPr userDrawn="1"/>
        </p:nvSpPr>
        <p:spPr>
          <a:xfrm>
            <a:off x="4724400" y="648504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C726D9B-9804-1140-BC52-C56896D08BA2}" type="slidenum">
              <a:rPr lang="pt-BR" sz="1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‹nº›</a:t>
            </a:fld>
            <a:endParaRPr lang="pt-BR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4976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B364A776-DACC-B744-98BA-8A68DE45B30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9936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B0598FE-C197-7A41-AEE7-57834EF117F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71951" y="2542478"/>
            <a:ext cx="4384936" cy="1619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096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810E965-FE6A-1C41-A0AE-AE9023D605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3545D11-08BA-8540-9E1F-DC0B43DB71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4517C86-3F06-0B47-991B-6C315A1B9FC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6F4836E-30A3-7344-A4E2-5BA42106A676}" type="datetime1">
              <a:rPr lang="pt-BR" smtClean="0"/>
              <a:t>23/07/2024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0362DB-081B-B34E-B19D-3E8B2AAB9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AEA43BE-1E75-484A-8202-458AA119E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D9B-9804-1140-BC52-C56896D08B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0367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8F5CB96-C519-3C48-A559-40B6F900B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D7FA913-E08A-5F46-A242-33F2986B8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9D1AF91-77F8-E140-86AD-726CC0355F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9530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/>
            <a:fld id="{FC726D9B-9804-1140-BC52-C56896D08BA2}" type="slidenum">
              <a:rPr lang="pt-BR" smtClean="0"/>
              <a:pPr algn="ctr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1418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F39AE95A-3AC0-8B4B-A7AD-747C74D5108A}"/>
              </a:ext>
            </a:extLst>
          </p:cNvPr>
          <p:cNvSpPr txBox="1"/>
          <p:nvPr/>
        </p:nvSpPr>
        <p:spPr>
          <a:xfrm>
            <a:off x="511438" y="3429000"/>
            <a:ext cx="75604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Projeto Data Master - CAPAG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8CCBF4-9C48-4286-B178-B902871CF3D5}"/>
              </a:ext>
            </a:extLst>
          </p:cNvPr>
          <p:cNvSpPr txBox="1"/>
          <p:nvPr/>
        </p:nvSpPr>
        <p:spPr>
          <a:xfrm>
            <a:off x="511438" y="4455328"/>
            <a:ext cx="3001399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200" dirty="0">
                <a:solidFill>
                  <a:schemeClr val="bg1"/>
                </a:solidFill>
              </a:rPr>
              <a:t>Bruno Rafael de Campos</a:t>
            </a:r>
          </a:p>
          <a:p>
            <a:endParaRPr lang="pt-BR" sz="2200" dirty="0">
              <a:solidFill>
                <a:schemeClr val="bg1"/>
              </a:solidFill>
            </a:endParaRPr>
          </a:p>
          <a:p>
            <a:r>
              <a:rPr lang="pt-BR" sz="2200" dirty="0">
                <a:solidFill>
                  <a:schemeClr val="bg1"/>
                </a:solidFill>
              </a:rPr>
              <a:t>Estação 33</a:t>
            </a:r>
          </a:p>
          <a:p>
            <a:r>
              <a:rPr lang="pt-BR" sz="2200" dirty="0">
                <a:solidFill>
                  <a:schemeClr val="bg1"/>
                </a:solidFill>
              </a:rPr>
              <a:t>Intelig. Dados Gerenciais</a:t>
            </a:r>
          </a:p>
        </p:txBody>
      </p:sp>
    </p:spTree>
    <p:extLst>
      <p:ext uri="{BB962C8B-B14F-4D97-AF65-F5344CB8AC3E}">
        <p14:creationId xmlns:p14="http://schemas.microsoft.com/office/powerpoint/2010/main" val="37836441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675C868F-BB03-4183-A8D1-74CA61DAA3E6}"/>
              </a:ext>
            </a:extLst>
          </p:cNvPr>
          <p:cNvSpPr txBox="1"/>
          <p:nvPr/>
        </p:nvSpPr>
        <p:spPr>
          <a:xfrm>
            <a:off x="511438" y="453777"/>
            <a:ext cx="35301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Objetivo do Case</a:t>
            </a: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39958256-7F1B-45D6-BA64-8E7D4287A3FD}"/>
              </a:ext>
            </a:extLst>
          </p:cNvPr>
          <p:cNvSpPr txBox="1"/>
          <p:nvPr/>
        </p:nvSpPr>
        <p:spPr>
          <a:xfrm>
            <a:off x="507179" y="1368392"/>
            <a:ext cx="1100823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</a:rPr>
              <a:t>O objetivo deste case é realizar a ingestão, tratamento e visualização dos dados do arquivo CAPAG, que contém informações sobre a classificação de capacidade de pagamento dos municípios brasileiros. </a:t>
            </a:r>
          </a:p>
          <a:p>
            <a:pPr lvl="0" algn="just"/>
            <a:endParaRPr lang="pt-BR" sz="2400" dirty="0">
              <a:solidFill>
                <a:schemeClr val="bg1"/>
              </a:solidFill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</a:rPr>
              <a:t>O processo CAPAG (Capacidade de Pagamento) no Brasil é um sistema de avaliação desenvolvido pela Secretaria do Tesouro Nacional (STN) para analisar a situação fiscal dos estados e municípios. Esse processo é essencial para determinar a capacidade das cidades de honrar suas dívidas e obter garantias da União para novos empréstimos. </a:t>
            </a:r>
          </a:p>
          <a:p>
            <a:pPr lvl="0" algn="just"/>
            <a:endParaRPr lang="pt-BR" sz="2400" dirty="0">
              <a:solidFill>
                <a:schemeClr val="bg1"/>
              </a:solidFill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</a:rPr>
              <a:t>O projeto busca transformar esses dados brutos em informações valiosas, através de processos de ETL (</a:t>
            </a:r>
            <a:r>
              <a:rPr lang="pt-BR" sz="2400" dirty="0" err="1">
                <a:solidFill>
                  <a:schemeClr val="bg1"/>
                </a:solidFill>
              </a:rPr>
              <a:t>Extract</a:t>
            </a:r>
            <a:r>
              <a:rPr lang="pt-BR" sz="2400" dirty="0">
                <a:solidFill>
                  <a:schemeClr val="bg1"/>
                </a:solidFill>
              </a:rPr>
              <a:t>, </a:t>
            </a:r>
            <a:r>
              <a:rPr lang="pt-BR" sz="2400" dirty="0" err="1">
                <a:solidFill>
                  <a:schemeClr val="bg1"/>
                </a:solidFill>
              </a:rPr>
              <a:t>Transform</a:t>
            </a:r>
            <a:r>
              <a:rPr lang="pt-BR" sz="2400" dirty="0">
                <a:solidFill>
                  <a:schemeClr val="bg1"/>
                </a:solidFill>
              </a:rPr>
              <a:t>, </a:t>
            </a:r>
            <a:r>
              <a:rPr lang="pt-BR" sz="2400" dirty="0" err="1">
                <a:solidFill>
                  <a:schemeClr val="bg1"/>
                </a:solidFill>
              </a:rPr>
              <a:t>Load</a:t>
            </a:r>
            <a:r>
              <a:rPr lang="pt-BR" sz="2400" dirty="0">
                <a:solidFill>
                  <a:schemeClr val="bg1"/>
                </a:solidFill>
              </a:rPr>
              <a:t>) e exibição em dashboards interativos. </a:t>
            </a:r>
          </a:p>
        </p:txBody>
      </p:sp>
    </p:spTree>
    <p:extLst>
      <p:ext uri="{BB962C8B-B14F-4D97-AF65-F5344CB8AC3E}">
        <p14:creationId xmlns:p14="http://schemas.microsoft.com/office/powerpoint/2010/main" val="1704362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675C868F-BB03-4183-A8D1-74CA61DAA3E6}"/>
              </a:ext>
            </a:extLst>
          </p:cNvPr>
          <p:cNvSpPr txBox="1"/>
          <p:nvPr/>
        </p:nvSpPr>
        <p:spPr>
          <a:xfrm>
            <a:off x="511438" y="453777"/>
            <a:ext cx="91918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Arquitetura de Solução</a:t>
            </a: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39958256-7F1B-45D6-BA64-8E7D4287A3FD}"/>
              </a:ext>
            </a:extLst>
          </p:cNvPr>
          <p:cNvSpPr txBox="1"/>
          <p:nvPr/>
        </p:nvSpPr>
        <p:spPr>
          <a:xfrm>
            <a:off x="511438" y="1304224"/>
            <a:ext cx="1148670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>
              <a:buFont typeface="+mj-lt"/>
              <a:buAutoNum type="arabicPeriod"/>
            </a:pPr>
            <a:r>
              <a:rPr lang="pt-BR" sz="2400" dirty="0" err="1">
                <a:solidFill>
                  <a:schemeClr val="bg1"/>
                </a:solidFill>
              </a:rPr>
              <a:t>Datasets</a:t>
            </a:r>
            <a:endParaRPr lang="pt-BR" sz="2400" dirty="0">
              <a:solidFill>
                <a:schemeClr val="bg1"/>
              </a:solidFill>
            </a:endParaRP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it-IT" sz="2200" dirty="0">
                <a:solidFill>
                  <a:schemeClr val="bg1"/>
                </a:solidFill>
              </a:rPr>
              <a:t>CAPAG.txt / </a:t>
            </a:r>
            <a:r>
              <a:rPr lang="pt-BR" sz="2200" dirty="0" err="1">
                <a:solidFill>
                  <a:schemeClr val="bg1"/>
                </a:solidFill>
              </a:rPr>
              <a:t>cidades.json</a:t>
            </a:r>
            <a:r>
              <a:rPr lang="pt-BR" sz="2200" dirty="0">
                <a:solidFill>
                  <a:schemeClr val="bg1"/>
                </a:solidFill>
              </a:rPr>
              <a:t> </a:t>
            </a:r>
          </a:p>
          <a:p>
            <a:pPr lvl="1" algn="just"/>
            <a:endParaRPr lang="pt-BR" sz="2400" dirty="0">
              <a:solidFill>
                <a:schemeClr val="bg1"/>
              </a:solidFill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pt-BR" sz="2400" dirty="0">
                <a:solidFill>
                  <a:schemeClr val="bg1"/>
                </a:solidFill>
              </a:rPr>
              <a:t>Ingestão de Dados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pt-BR" sz="2200" dirty="0">
                <a:solidFill>
                  <a:schemeClr val="bg1"/>
                </a:solidFill>
              </a:rPr>
              <a:t>Insumos transformados em </a:t>
            </a:r>
            <a:r>
              <a:rPr lang="pt-BR" sz="2200" i="1" dirty="0">
                <a:solidFill>
                  <a:schemeClr val="bg1"/>
                </a:solidFill>
              </a:rPr>
              <a:t>.</a:t>
            </a:r>
            <a:r>
              <a:rPr lang="pt-BR" sz="2200" i="1" dirty="0" err="1">
                <a:solidFill>
                  <a:schemeClr val="bg1"/>
                </a:solidFill>
              </a:rPr>
              <a:t>csv</a:t>
            </a:r>
            <a:r>
              <a:rPr lang="pt-BR" sz="2200" i="1" dirty="0">
                <a:solidFill>
                  <a:schemeClr val="bg1"/>
                </a:solidFill>
              </a:rPr>
              <a:t> </a:t>
            </a:r>
            <a:r>
              <a:rPr lang="pt-BR" sz="2200" dirty="0">
                <a:solidFill>
                  <a:schemeClr val="bg1"/>
                </a:solidFill>
              </a:rPr>
              <a:t>e enviados para o Google Cloud </a:t>
            </a:r>
            <a:r>
              <a:rPr lang="pt-BR" sz="2200" dirty="0" err="1">
                <a:solidFill>
                  <a:schemeClr val="bg1"/>
                </a:solidFill>
              </a:rPr>
              <a:t>Storage</a:t>
            </a:r>
            <a:r>
              <a:rPr lang="pt-BR" sz="2200" dirty="0">
                <a:solidFill>
                  <a:schemeClr val="bg1"/>
                </a:solidFill>
              </a:rPr>
              <a:t>.</a:t>
            </a:r>
          </a:p>
          <a:p>
            <a:pPr lvl="1" algn="just"/>
            <a:endParaRPr lang="pt-BR" sz="2400" dirty="0">
              <a:solidFill>
                <a:schemeClr val="bg1"/>
              </a:solidFill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pt-BR" sz="2400" dirty="0">
                <a:solidFill>
                  <a:schemeClr val="bg1"/>
                </a:solidFill>
              </a:rPr>
              <a:t>Processamento de Dados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pt-BR" sz="2200" dirty="0">
                <a:solidFill>
                  <a:schemeClr val="bg1"/>
                </a:solidFill>
              </a:rPr>
              <a:t>Dados carregados no </a:t>
            </a:r>
            <a:r>
              <a:rPr lang="pt-BR" sz="2200" dirty="0" err="1">
                <a:solidFill>
                  <a:schemeClr val="bg1"/>
                </a:solidFill>
              </a:rPr>
              <a:t>BigQuery</a:t>
            </a:r>
            <a:r>
              <a:rPr lang="pt-BR" sz="2200" dirty="0">
                <a:solidFill>
                  <a:schemeClr val="bg1"/>
                </a:solidFill>
              </a:rPr>
              <a:t>, processados e transformados pelo </a:t>
            </a:r>
            <a:r>
              <a:rPr lang="pt-BR" sz="2200" dirty="0" err="1">
                <a:solidFill>
                  <a:schemeClr val="bg1"/>
                </a:solidFill>
              </a:rPr>
              <a:t>dbt</a:t>
            </a:r>
            <a:r>
              <a:rPr lang="pt-BR" sz="2200" dirty="0">
                <a:solidFill>
                  <a:schemeClr val="bg1"/>
                </a:solidFill>
              </a:rPr>
              <a:t>.</a:t>
            </a:r>
          </a:p>
          <a:p>
            <a:pPr lvl="1" algn="just"/>
            <a:endParaRPr lang="pt-BR" sz="2400" dirty="0">
              <a:solidFill>
                <a:schemeClr val="bg1"/>
              </a:solidFill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pt-BR" sz="2400" dirty="0">
                <a:solidFill>
                  <a:schemeClr val="bg1"/>
                </a:solidFill>
              </a:rPr>
              <a:t>Validação de Dados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pt-BR" sz="2200" dirty="0">
                <a:solidFill>
                  <a:schemeClr val="bg1"/>
                </a:solidFill>
              </a:rPr>
              <a:t>Uso do SODA para validar a qualidade dos dados que foram transformados.</a:t>
            </a:r>
          </a:p>
          <a:p>
            <a:pPr lvl="1" algn="just"/>
            <a:endParaRPr lang="pt-BR" sz="2400" dirty="0">
              <a:solidFill>
                <a:schemeClr val="bg1"/>
              </a:solidFill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pt-BR" sz="2400" dirty="0">
                <a:solidFill>
                  <a:schemeClr val="bg1"/>
                </a:solidFill>
              </a:rPr>
              <a:t>Visualização de Dados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pt-BR" sz="2200" dirty="0">
                <a:solidFill>
                  <a:schemeClr val="bg1"/>
                </a:solidFill>
              </a:rPr>
              <a:t>Dashboards interativos no </a:t>
            </a:r>
            <a:r>
              <a:rPr lang="pt-BR" sz="2200" dirty="0" err="1">
                <a:solidFill>
                  <a:schemeClr val="bg1"/>
                </a:solidFill>
              </a:rPr>
              <a:t>Metabase</a:t>
            </a:r>
            <a:r>
              <a:rPr lang="pt-BR" sz="22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80813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675C868F-BB03-4183-A8D1-74CA61DAA3E6}"/>
              </a:ext>
            </a:extLst>
          </p:cNvPr>
          <p:cNvSpPr txBox="1"/>
          <p:nvPr/>
        </p:nvSpPr>
        <p:spPr>
          <a:xfrm>
            <a:off x="511438" y="453777"/>
            <a:ext cx="46923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Arquitetura de Solução</a:t>
            </a: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39958256-7F1B-45D6-BA64-8E7D4287A3FD}"/>
              </a:ext>
            </a:extLst>
          </p:cNvPr>
          <p:cNvSpPr txBox="1"/>
          <p:nvPr/>
        </p:nvSpPr>
        <p:spPr>
          <a:xfrm>
            <a:off x="507179" y="1368392"/>
            <a:ext cx="111776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</a:rPr>
              <a:t>Pipeline:</a:t>
            </a:r>
          </a:p>
          <a:p>
            <a:endParaRPr lang="pt-BR" sz="2400" dirty="0">
              <a:solidFill>
                <a:schemeClr val="bg1"/>
              </a:solidFill>
            </a:endParaRPr>
          </a:p>
        </p:txBody>
      </p:sp>
      <p:pic>
        <p:nvPicPr>
          <p:cNvPr id="7" name="Imagem 6" descr="Gráfico, Gráfico de caixa estreita&#10;&#10;Descrição gerada automaticamente">
            <a:extLst>
              <a:ext uri="{FF2B5EF4-FFF2-40B4-BE49-F238E27FC236}">
                <a16:creationId xmlns:a16="http://schemas.microsoft.com/office/drawing/2014/main" id="{02C538F3-BE56-CBB1-7455-7F80A62BF7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768" y="1981470"/>
            <a:ext cx="11006463" cy="3856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294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675C868F-BB03-4183-A8D1-74CA61DAA3E6}"/>
              </a:ext>
            </a:extLst>
          </p:cNvPr>
          <p:cNvSpPr txBox="1"/>
          <p:nvPr/>
        </p:nvSpPr>
        <p:spPr>
          <a:xfrm>
            <a:off x="511438" y="453777"/>
            <a:ext cx="40318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Arquitetura Técnica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9CF32B-4A8D-0092-6062-83AF33BC1716}"/>
              </a:ext>
            </a:extLst>
          </p:cNvPr>
          <p:cNvSpPr txBox="1"/>
          <p:nvPr/>
        </p:nvSpPr>
        <p:spPr>
          <a:xfrm>
            <a:off x="511438" y="1397674"/>
            <a:ext cx="1110445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</a:rPr>
              <a:t>Docker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pt-BR" sz="2200" dirty="0">
                <a:solidFill>
                  <a:schemeClr val="bg1"/>
                </a:solidFill>
              </a:rPr>
              <a:t>Ferramenta para conteinerização e gerenciamento de ambientes.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400" dirty="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</a:rPr>
              <a:t>Astro CLI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pt-BR" sz="2200" dirty="0">
                <a:solidFill>
                  <a:schemeClr val="bg1"/>
                </a:solidFill>
              </a:rPr>
              <a:t>Ferramenta de linha de comando para gerenciamento do </a:t>
            </a:r>
            <a:r>
              <a:rPr lang="pt-BR" sz="2200" dirty="0" err="1">
                <a:solidFill>
                  <a:schemeClr val="bg1"/>
                </a:solidFill>
              </a:rPr>
              <a:t>Airflow</a:t>
            </a:r>
            <a:r>
              <a:rPr lang="pt-BR" sz="2200" dirty="0">
                <a:solidFill>
                  <a:schemeClr val="bg1"/>
                </a:solidFill>
              </a:rPr>
              <a:t>. </a:t>
            </a:r>
          </a:p>
          <a:p>
            <a:pPr algn="just"/>
            <a:endParaRPr lang="pt-BR" sz="2400" dirty="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 err="1">
                <a:solidFill>
                  <a:schemeClr val="bg1"/>
                </a:solidFill>
              </a:rPr>
              <a:t>Airflow</a:t>
            </a:r>
            <a:endParaRPr lang="pt-BR" sz="2400" dirty="0">
              <a:solidFill>
                <a:schemeClr val="bg1"/>
              </a:solidFill>
            </a:endParaRP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pt-BR" sz="2200" dirty="0">
                <a:solidFill>
                  <a:schemeClr val="bg1"/>
                </a:solidFill>
              </a:rPr>
              <a:t>Plataforma para criar, agendar e monitorar workflows, utilizada para orquestração do pipeline de dados. </a:t>
            </a:r>
          </a:p>
        </p:txBody>
      </p:sp>
    </p:spTree>
    <p:extLst>
      <p:ext uri="{BB962C8B-B14F-4D97-AF65-F5344CB8AC3E}">
        <p14:creationId xmlns:p14="http://schemas.microsoft.com/office/powerpoint/2010/main" val="2792295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675C868F-BB03-4183-A8D1-74CA61DAA3E6}"/>
              </a:ext>
            </a:extLst>
          </p:cNvPr>
          <p:cNvSpPr txBox="1"/>
          <p:nvPr/>
        </p:nvSpPr>
        <p:spPr>
          <a:xfrm>
            <a:off x="511438" y="453777"/>
            <a:ext cx="40318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Arquitetura Técnica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9CF32B-4A8D-0092-6062-83AF33BC1716}"/>
              </a:ext>
            </a:extLst>
          </p:cNvPr>
          <p:cNvSpPr txBox="1"/>
          <p:nvPr/>
        </p:nvSpPr>
        <p:spPr>
          <a:xfrm>
            <a:off x="511438" y="1182304"/>
            <a:ext cx="10772861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</a:rPr>
              <a:t>Google Cloud Platform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pt-BR" sz="2200" dirty="0">
                <a:solidFill>
                  <a:schemeClr val="bg1"/>
                </a:solidFill>
              </a:rPr>
              <a:t>Google Cloud </a:t>
            </a:r>
            <a:r>
              <a:rPr lang="pt-BR" sz="2200" dirty="0" err="1">
                <a:solidFill>
                  <a:schemeClr val="bg1"/>
                </a:solidFill>
              </a:rPr>
              <a:t>Storage</a:t>
            </a:r>
            <a:endParaRPr lang="pt-BR" sz="2200" dirty="0">
              <a:solidFill>
                <a:schemeClr val="bg1"/>
              </a:solidFill>
            </a:endParaRPr>
          </a:p>
          <a:p>
            <a:pPr marL="1257300" lvl="2" indent="-342900" algn="just">
              <a:buFont typeface="Courier New" panose="02070309020205020404" pitchFamily="49" charset="0"/>
              <a:buChar char="o"/>
            </a:pPr>
            <a:r>
              <a:rPr lang="pt-BR" sz="2000" dirty="0">
                <a:solidFill>
                  <a:schemeClr val="bg1"/>
                </a:solidFill>
              </a:rPr>
              <a:t>Armazenamento do arquivo CAPAG.csv e cidades.csv. </a:t>
            </a:r>
          </a:p>
          <a:p>
            <a:pPr marL="1257300" lvl="2" indent="-342900" algn="just">
              <a:buFont typeface="Courier New" panose="02070309020205020404" pitchFamily="49" charset="0"/>
              <a:buChar char="o"/>
            </a:pPr>
            <a:endParaRPr lang="pt-BR" sz="800" dirty="0">
              <a:solidFill>
                <a:schemeClr val="bg1"/>
              </a:solidFill>
            </a:endParaRP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pt-BR" sz="2200" dirty="0" err="1">
                <a:solidFill>
                  <a:schemeClr val="bg1"/>
                </a:solidFill>
              </a:rPr>
              <a:t>BigQuery</a:t>
            </a:r>
            <a:endParaRPr lang="pt-BR" sz="2200" dirty="0">
              <a:solidFill>
                <a:schemeClr val="bg1"/>
              </a:solidFill>
            </a:endParaRPr>
          </a:p>
          <a:p>
            <a:pPr marL="1257300" lvl="2" indent="-342900" algn="just">
              <a:buFont typeface="Courier New" panose="02070309020205020404" pitchFamily="49" charset="0"/>
              <a:buChar char="o"/>
            </a:pPr>
            <a:r>
              <a:rPr lang="pt-BR" sz="2000" dirty="0">
                <a:solidFill>
                  <a:schemeClr val="bg1"/>
                </a:solidFill>
              </a:rPr>
              <a:t>Data </a:t>
            </a:r>
            <a:r>
              <a:rPr lang="pt-BR" sz="2000" dirty="0" err="1">
                <a:solidFill>
                  <a:schemeClr val="bg1"/>
                </a:solidFill>
              </a:rPr>
              <a:t>warehouse</a:t>
            </a:r>
            <a:r>
              <a:rPr lang="pt-BR" sz="2000" dirty="0">
                <a:solidFill>
                  <a:schemeClr val="bg1"/>
                </a:solidFill>
              </a:rPr>
              <a:t> utilizado para armazenar e processar os dados. </a:t>
            </a:r>
          </a:p>
          <a:p>
            <a:pPr lvl="2" algn="just"/>
            <a:endParaRPr lang="pt-BR" sz="2000" dirty="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 err="1">
                <a:solidFill>
                  <a:schemeClr val="bg1"/>
                </a:solidFill>
              </a:rPr>
              <a:t>dbt</a:t>
            </a:r>
            <a:r>
              <a:rPr lang="pt-BR" sz="2400" dirty="0">
                <a:solidFill>
                  <a:schemeClr val="bg1"/>
                </a:solidFill>
              </a:rPr>
              <a:t> (Data Build Tool)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pt-BR" sz="2200" dirty="0">
                <a:solidFill>
                  <a:schemeClr val="bg1"/>
                </a:solidFill>
              </a:rPr>
              <a:t>Ferramenta para transformação dos dados, escrita de modelos SQL e criação de tabelas no </a:t>
            </a:r>
            <a:r>
              <a:rPr lang="pt-BR" sz="2200" dirty="0" err="1">
                <a:solidFill>
                  <a:schemeClr val="bg1"/>
                </a:solidFill>
              </a:rPr>
              <a:t>BigQuery</a:t>
            </a:r>
            <a:r>
              <a:rPr lang="pt-BR" sz="2200" dirty="0">
                <a:solidFill>
                  <a:schemeClr val="bg1"/>
                </a:solidFill>
              </a:rPr>
              <a:t>. </a:t>
            </a:r>
          </a:p>
          <a:p>
            <a:pPr algn="just"/>
            <a:endParaRPr lang="pt-BR" sz="2400" dirty="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</a:rPr>
              <a:t>SODA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pt-BR" sz="2200" dirty="0">
                <a:solidFill>
                  <a:schemeClr val="bg1"/>
                </a:solidFill>
              </a:rPr>
              <a:t>Ferramenta para validação e monitoramento da qualidade dos dados. </a:t>
            </a:r>
          </a:p>
          <a:p>
            <a:pPr algn="just"/>
            <a:endParaRPr lang="pt-BR" sz="2400" dirty="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 err="1">
                <a:solidFill>
                  <a:schemeClr val="bg1"/>
                </a:solidFill>
              </a:rPr>
              <a:t>Metabase</a:t>
            </a:r>
            <a:endParaRPr lang="pt-BR" sz="2400" dirty="0">
              <a:solidFill>
                <a:schemeClr val="bg1"/>
              </a:solidFill>
            </a:endParaRP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pt-BR" sz="2200" dirty="0">
                <a:solidFill>
                  <a:schemeClr val="bg1"/>
                </a:solidFill>
              </a:rPr>
              <a:t>Plataforma utilizada para criar e visualizar dashboards interativos.</a:t>
            </a:r>
          </a:p>
        </p:txBody>
      </p:sp>
    </p:spTree>
    <p:extLst>
      <p:ext uri="{BB962C8B-B14F-4D97-AF65-F5344CB8AC3E}">
        <p14:creationId xmlns:p14="http://schemas.microsoft.com/office/powerpoint/2010/main" val="2677571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675C868F-BB03-4183-A8D1-74CA61DAA3E6}"/>
              </a:ext>
            </a:extLst>
          </p:cNvPr>
          <p:cNvSpPr txBox="1"/>
          <p:nvPr/>
        </p:nvSpPr>
        <p:spPr>
          <a:xfrm>
            <a:off x="511439" y="453777"/>
            <a:ext cx="84230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Explicação sobre o Case Desenvolvido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382AFF-F701-84FF-0590-14AEBC07DA98}"/>
              </a:ext>
            </a:extLst>
          </p:cNvPr>
          <p:cNvSpPr txBox="1"/>
          <p:nvPr/>
        </p:nvSpPr>
        <p:spPr>
          <a:xfrm>
            <a:off x="511438" y="1304224"/>
            <a:ext cx="11486702" cy="52168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>
              <a:buFont typeface="+mj-lt"/>
              <a:buAutoNum type="arabicPeriod"/>
            </a:pPr>
            <a:r>
              <a:rPr lang="pt-BR" sz="2400" dirty="0">
                <a:solidFill>
                  <a:schemeClr val="bg1"/>
                </a:solidFill>
              </a:rPr>
              <a:t>Tratamento inicial dos insumos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pt-BR" sz="2200" dirty="0">
                <a:solidFill>
                  <a:schemeClr val="bg1"/>
                </a:solidFill>
              </a:rPr>
              <a:t>Mudança de extensão dos </a:t>
            </a:r>
            <a:r>
              <a:rPr lang="pt-BR" sz="2200" dirty="0" err="1">
                <a:solidFill>
                  <a:schemeClr val="bg1"/>
                </a:solidFill>
              </a:rPr>
              <a:t>datasets</a:t>
            </a:r>
            <a:r>
              <a:rPr lang="pt-BR" sz="2200" dirty="0">
                <a:solidFill>
                  <a:schemeClr val="bg1"/>
                </a:solidFill>
              </a:rPr>
              <a:t> para </a:t>
            </a:r>
            <a:r>
              <a:rPr lang="pt-BR" sz="2200" i="1" dirty="0">
                <a:solidFill>
                  <a:schemeClr val="bg1"/>
                </a:solidFill>
              </a:rPr>
              <a:t>.</a:t>
            </a:r>
            <a:r>
              <a:rPr lang="pt-BR" sz="2200" i="1" dirty="0" err="1">
                <a:solidFill>
                  <a:schemeClr val="bg1"/>
                </a:solidFill>
              </a:rPr>
              <a:t>csv</a:t>
            </a:r>
            <a:endParaRPr lang="pt-BR" sz="2200" i="1" dirty="0">
              <a:solidFill>
                <a:schemeClr val="bg1"/>
              </a:solidFill>
            </a:endParaRPr>
          </a:p>
          <a:p>
            <a:pPr lvl="2"/>
            <a:endParaRPr lang="en-US" sz="2200" i="1" dirty="0">
              <a:solidFill>
                <a:schemeClr val="bg1"/>
              </a:solidFill>
            </a:endParaRPr>
          </a:p>
          <a:p>
            <a:pPr lvl="2"/>
            <a:endParaRPr lang="en-US" sz="2200" i="1" dirty="0">
              <a:solidFill>
                <a:schemeClr val="bg1"/>
              </a:solidFill>
            </a:endParaRPr>
          </a:p>
          <a:p>
            <a:pPr lvl="2"/>
            <a:endParaRPr lang="en-US" sz="2200" i="1" dirty="0">
              <a:solidFill>
                <a:schemeClr val="bg1"/>
              </a:solidFill>
            </a:endParaRPr>
          </a:p>
          <a:p>
            <a:pPr lvl="2"/>
            <a:endParaRPr lang="en-US" sz="2200" i="1" dirty="0">
              <a:solidFill>
                <a:schemeClr val="bg1"/>
              </a:solidFill>
            </a:endParaRPr>
          </a:p>
          <a:p>
            <a:pPr lvl="2"/>
            <a:endParaRPr lang="en-US" sz="2200" i="1" dirty="0">
              <a:solidFill>
                <a:schemeClr val="bg1"/>
              </a:solidFill>
            </a:endParaRPr>
          </a:p>
          <a:p>
            <a:pPr lvl="2"/>
            <a:endParaRPr lang="en-US" sz="1000" i="1" dirty="0">
              <a:solidFill>
                <a:schemeClr val="bg1"/>
              </a:solidFill>
            </a:endParaRPr>
          </a:p>
          <a:p>
            <a:pPr marL="457200" lvl="0" indent="-457200" algn="just">
              <a:buFont typeface="+mj-lt"/>
              <a:buAutoNum type="arabicPeriod"/>
            </a:pPr>
            <a:r>
              <a:rPr lang="pt-BR" sz="2400" dirty="0">
                <a:solidFill>
                  <a:schemeClr val="bg1"/>
                </a:solidFill>
              </a:rPr>
              <a:t>Ingestão dos Arquivos</a:t>
            </a:r>
          </a:p>
          <a:p>
            <a:pPr marL="914400" lvl="1" indent="-457200" algn="just">
              <a:buFont typeface="Wingdings" panose="05000000000000000000" pitchFamily="2" charset="2"/>
              <a:buChar char="§"/>
            </a:pPr>
            <a:r>
              <a:rPr lang="pt-BR" sz="2200" dirty="0" err="1">
                <a:solidFill>
                  <a:schemeClr val="bg1"/>
                </a:solidFill>
              </a:rPr>
              <a:t>Dags</a:t>
            </a:r>
            <a:r>
              <a:rPr lang="pt-BR" sz="2200" dirty="0">
                <a:solidFill>
                  <a:schemeClr val="bg1"/>
                </a:solidFill>
              </a:rPr>
              <a:t> </a:t>
            </a:r>
            <a:r>
              <a:rPr lang="en-US" sz="2200" i="1" dirty="0" err="1">
                <a:solidFill>
                  <a:schemeClr val="bg1"/>
                </a:solidFill>
              </a:rPr>
              <a:t>upload_capag_to_gcs</a:t>
            </a:r>
            <a:r>
              <a:rPr lang="en-US" sz="2200" i="1" dirty="0">
                <a:solidFill>
                  <a:schemeClr val="bg1"/>
                </a:solidFill>
              </a:rPr>
              <a:t> </a:t>
            </a:r>
            <a:r>
              <a:rPr lang="en-US" sz="2200" dirty="0">
                <a:solidFill>
                  <a:schemeClr val="bg1"/>
                </a:solidFill>
              </a:rPr>
              <a:t>e</a:t>
            </a:r>
            <a:r>
              <a:rPr lang="en-US" sz="2200" i="1" dirty="0">
                <a:solidFill>
                  <a:schemeClr val="bg1"/>
                </a:solidFill>
              </a:rPr>
              <a:t> </a:t>
            </a:r>
            <a:r>
              <a:rPr lang="en-US" sz="2200" i="1" dirty="0" err="1">
                <a:solidFill>
                  <a:schemeClr val="bg1"/>
                </a:solidFill>
              </a:rPr>
              <a:t>upload_cidades_to_gcs</a:t>
            </a:r>
            <a:endParaRPr lang="en-US" sz="2200" i="1" dirty="0">
              <a:solidFill>
                <a:schemeClr val="bg1"/>
              </a:solidFill>
            </a:endParaRPr>
          </a:p>
          <a:p>
            <a:pPr marL="1371600" lvl="2" indent="-457200" algn="just">
              <a:buFont typeface="Courier New" panose="02070309020205020404" pitchFamily="49" charset="0"/>
              <a:buChar char="o"/>
            </a:pPr>
            <a:r>
              <a:rPr lang="en-US" sz="2000" dirty="0" err="1">
                <a:solidFill>
                  <a:schemeClr val="bg1"/>
                </a:solidFill>
              </a:rPr>
              <a:t>Insumos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carregados</a:t>
            </a:r>
            <a:r>
              <a:rPr lang="en-US" sz="2000" dirty="0">
                <a:solidFill>
                  <a:schemeClr val="bg1"/>
                </a:solidFill>
              </a:rPr>
              <a:t> no Google Cloud Storage.</a:t>
            </a:r>
          </a:p>
          <a:p>
            <a:pPr lvl="2" algn="just"/>
            <a:endParaRPr lang="en-US" sz="800" dirty="0">
              <a:solidFill>
                <a:schemeClr val="bg1"/>
              </a:solidFill>
            </a:endParaRPr>
          </a:p>
          <a:p>
            <a:pPr marL="914400" lvl="1" indent="-457200" algn="just">
              <a:buFont typeface="Wingdings" panose="05000000000000000000" pitchFamily="2" charset="2"/>
              <a:buChar char="§"/>
            </a:pPr>
            <a:r>
              <a:rPr lang="pt-BR" sz="2200" dirty="0" err="1">
                <a:solidFill>
                  <a:schemeClr val="bg1"/>
                </a:solidFill>
              </a:rPr>
              <a:t>Dags</a:t>
            </a:r>
            <a:r>
              <a:rPr lang="pt-BR" sz="2200" dirty="0">
                <a:solidFill>
                  <a:schemeClr val="bg1"/>
                </a:solidFill>
              </a:rPr>
              <a:t> </a:t>
            </a:r>
            <a:r>
              <a:rPr lang="en-US" sz="2200" i="1" dirty="0" err="1">
                <a:solidFill>
                  <a:schemeClr val="bg1"/>
                </a:solidFill>
              </a:rPr>
              <a:t>create_capag_dataset</a:t>
            </a:r>
            <a:r>
              <a:rPr lang="en-US" sz="2200" i="1" dirty="0">
                <a:solidFill>
                  <a:schemeClr val="bg1"/>
                </a:solidFill>
              </a:rPr>
              <a:t> </a:t>
            </a:r>
            <a:r>
              <a:rPr lang="en-US" sz="2200" dirty="0">
                <a:solidFill>
                  <a:schemeClr val="bg1"/>
                </a:solidFill>
              </a:rPr>
              <a:t>e</a:t>
            </a:r>
            <a:r>
              <a:rPr lang="en-US" sz="2200" i="1" dirty="0">
                <a:solidFill>
                  <a:schemeClr val="bg1"/>
                </a:solidFill>
              </a:rPr>
              <a:t> </a:t>
            </a:r>
            <a:r>
              <a:rPr lang="en-US" sz="2200" i="1" dirty="0" err="1">
                <a:solidFill>
                  <a:schemeClr val="bg1"/>
                </a:solidFill>
              </a:rPr>
              <a:t>create_cidades_dataset</a:t>
            </a:r>
            <a:endParaRPr lang="en-US" sz="2200" i="1" dirty="0">
              <a:solidFill>
                <a:schemeClr val="bg1"/>
              </a:solidFill>
            </a:endParaRPr>
          </a:p>
          <a:p>
            <a:pPr marL="1371600" lvl="2" indent="-457200" algn="just">
              <a:buFont typeface="Courier New" panose="02070309020205020404" pitchFamily="49" charset="0"/>
              <a:buChar char="o"/>
            </a:pPr>
            <a:r>
              <a:rPr lang="en-US" sz="2000" dirty="0" err="1">
                <a:solidFill>
                  <a:schemeClr val="bg1"/>
                </a:solidFill>
              </a:rPr>
              <a:t>Criação</a:t>
            </a:r>
            <a:r>
              <a:rPr lang="en-US" sz="2000" dirty="0">
                <a:solidFill>
                  <a:schemeClr val="bg1"/>
                </a:solidFill>
              </a:rPr>
              <a:t> de datasets </a:t>
            </a:r>
            <a:r>
              <a:rPr lang="en-US" sz="2000" dirty="0" err="1">
                <a:solidFill>
                  <a:schemeClr val="bg1"/>
                </a:solidFill>
              </a:rPr>
              <a:t>vazios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  <a:p>
            <a:pPr lvl="2" algn="just"/>
            <a:endParaRPr lang="en-US" sz="800" dirty="0">
              <a:solidFill>
                <a:schemeClr val="bg1"/>
              </a:solidFill>
            </a:endParaRPr>
          </a:p>
          <a:p>
            <a:pPr marL="914400" lvl="1" indent="-457200" algn="just">
              <a:buFont typeface="Wingdings" panose="05000000000000000000" pitchFamily="2" charset="2"/>
              <a:buChar char="§"/>
            </a:pPr>
            <a:r>
              <a:rPr lang="pt-BR" sz="2200" dirty="0" err="1">
                <a:solidFill>
                  <a:schemeClr val="bg1"/>
                </a:solidFill>
              </a:rPr>
              <a:t>Dags</a:t>
            </a:r>
            <a:r>
              <a:rPr lang="pt-BR" sz="2200" dirty="0">
                <a:solidFill>
                  <a:schemeClr val="bg1"/>
                </a:solidFill>
              </a:rPr>
              <a:t> </a:t>
            </a:r>
            <a:r>
              <a:rPr lang="en-US" sz="2200" i="1" dirty="0" err="1">
                <a:solidFill>
                  <a:schemeClr val="bg1"/>
                </a:solidFill>
              </a:rPr>
              <a:t>gcs_to_raw_capag</a:t>
            </a:r>
            <a:r>
              <a:rPr lang="en-US" sz="2200" i="1" dirty="0">
                <a:solidFill>
                  <a:schemeClr val="bg1"/>
                </a:solidFill>
              </a:rPr>
              <a:t> </a:t>
            </a:r>
            <a:r>
              <a:rPr lang="en-US" sz="2200" dirty="0">
                <a:solidFill>
                  <a:schemeClr val="bg1"/>
                </a:solidFill>
              </a:rPr>
              <a:t>e</a:t>
            </a:r>
            <a:r>
              <a:rPr lang="en-US" sz="2200" i="1" dirty="0">
                <a:solidFill>
                  <a:schemeClr val="bg1"/>
                </a:solidFill>
              </a:rPr>
              <a:t> </a:t>
            </a:r>
            <a:r>
              <a:rPr lang="en-US" sz="2200" i="1" dirty="0" err="1">
                <a:solidFill>
                  <a:schemeClr val="bg1"/>
                </a:solidFill>
              </a:rPr>
              <a:t>gcs_to_raw_cidades</a:t>
            </a:r>
            <a:endParaRPr lang="en-US" sz="2200" i="1" dirty="0">
              <a:solidFill>
                <a:schemeClr val="bg1"/>
              </a:solidFill>
            </a:endParaRPr>
          </a:p>
          <a:p>
            <a:pPr marL="1371600" lvl="2" indent="-457200" algn="just">
              <a:buFont typeface="Courier New" panose="02070309020205020404" pitchFamily="49" charset="0"/>
              <a:buChar char="o"/>
            </a:pPr>
            <a:r>
              <a:rPr lang="en-US" sz="2000" dirty="0" err="1">
                <a:solidFill>
                  <a:schemeClr val="bg1"/>
                </a:solidFill>
              </a:rPr>
              <a:t>Criação</a:t>
            </a:r>
            <a:r>
              <a:rPr lang="en-US" sz="2000" dirty="0">
                <a:solidFill>
                  <a:schemeClr val="bg1"/>
                </a:solidFill>
              </a:rPr>
              <a:t> das </a:t>
            </a:r>
            <a:r>
              <a:rPr lang="en-US" sz="2000" dirty="0" err="1">
                <a:solidFill>
                  <a:schemeClr val="bg1"/>
                </a:solidFill>
              </a:rPr>
              <a:t>tabelas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capag_brasil</a:t>
            </a:r>
            <a:r>
              <a:rPr lang="en-US" sz="2000" dirty="0">
                <a:solidFill>
                  <a:schemeClr val="bg1"/>
                </a:solidFill>
              </a:rPr>
              <a:t> e </a:t>
            </a:r>
            <a:r>
              <a:rPr lang="en-US" sz="2000" dirty="0" err="1">
                <a:solidFill>
                  <a:schemeClr val="bg1"/>
                </a:solidFill>
              </a:rPr>
              <a:t>cidades_brasil</a:t>
            </a:r>
            <a:r>
              <a:rPr lang="en-US" sz="2000" dirty="0">
                <a:solidFill>
                  <a:schemeClr val="bg1"/>
                </a:solidFill>
              </a:rPr>
              <a:t> no </a:t>
            </a:r>
            <a:r>
              <a:rPr lang="en-US" sz="2000" dirty="0" err="1">
                <a:solidFill>
                  <a:schemeClr val="bg1"/>
                </a:solidFill>
              </a:rPr>
              <a:t>BigQuery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  <a:endParaRPr lang="pt-BR" sz="2000" dirty="0">
              <a:solidFill>
                <a:schemeClr val="bg1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B6A5921-70B2-4A19-408C-BDC1A41BE1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3204" y="2106284"/>
            <a:ext cx="8545591" cy="1702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3205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675C868F-BB03-4183-A8D1-74CA61DAA3E6}"/>
              </a:ext>
            </a:extLst>
          </p:cNvPr>
          <p:cNvSpPr txBox="1"/>
          <p:nvPr/>
        </p:nvSpPr>
        <p:spPr>
          <a:xfrm>
            <a:off x="511439" y="453777"/>
            <a:ext cx="84230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Explicação sobre o Case Desenvolvido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382AFF-F701-84FF-0590-14AEBC07DA98}"/>
              </a:ext>
            </a:extLst>
          </p:cNvPr>
          <p:cNvSpPr txBox="1"/>
          <p:nvPr/>
        </p:nvSpPr>
        <p:spPr>
          <a:xfrm>
            <a:off x="511438" y="1304224"/>
            <a:ext cx="11486702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>
                <a:solidFill>
                  <a:schemeClr val="bg1"/>
                </a:solidFill>
              </a:rPr>
              <a:t>3.   Criação de Tabelas </a:t>
            </a:r>
            <a:r>
              <a:rPr lang="pt-BR" sz="2400" dirty="0" err="1">
                <a:solidFill>
                  <a:schemeClr val="bg1"/>
                </a:solidFill>
              </a:rPr>
              <a:t>transform</a:t>
            </a:r>
            <a:r>
              <a:rPr lang="pt-BR" sz="2400" dirty="0">
                <a:solidFill>
                  <a:schemeClr val="bg1"/>
                </a:solidFill>
              </a:rPr>
              <a:t> no </a:t>
            </a:r>
            <a:r>
              <a:rPr lang="pt-BR" sz="2400" dirty="0" err="1">
                <a:solidFill>
                  <a:schemeClr val="bg1"/>
                </a:solidFill>
              </a:rPr>
              <a:t>BigQuery</a:t>
            </a:r>
            <a:r>
              <a:rPr lang="pt-BR" sz="2400" dirty="0">
                <a:solidFill>
                  <a:schemeClr val="bg1"/>
                </a:solidFill>
              </a:rPr>
              <a:t> com </a:t>
            </a:r>
            <a:r>
              <a:rPr lang="pt-BR" sz="2400" dirty="0" err="1">
                <a:solidFill>
                  <a:schemeClr val="bg1"/>
                </a:solidFill>
              </a:rPr>
              <a:t>dbt</a:t>
            </a:r>
            <a:endParaRPr lang="pt-BR" sz="2400" dirty="0">
              <a:solidFill>
                <a:schemeClr val="bg1"/>
              </a:solidFill>
            </a:endParaRPr>
          </a:p>
          <a:p>
            <a:pPr marL="1257300" lvl="2" indent="-342900">
              <a:buFont typeface="Wingdings" panose="05000000000000000000" pitchFamily="2" charset="2"/>
              <a:buChar char="§"/>
            </a:pPr>
            <a:endParaRPr lang="pt-BR" sz="2200" dirty="0">
              <a:solidFill>
                <a:schemeClr val="bg1"/>
              </a:solidFill>
            </a:endParaRPr>
          </a:p>
          <a:p>
            <a:pPr lvl="2"/>
            <a:endParaRPr lang="en-US" sz="2200" i="1" dirty="0">
              <a:solidFill>
                <a:schemeClr val="bg1"/>
              </a:solidFill>
            </a:endParaRPr>
          </a:p>
        </p:txBody>
      </p:sp>
      <p:pic>
        <p:nvPicPr>
          <p:cNvPr id="5" name="Imagem 4" descr="Diagrama&#10;&#10;Descrição gerada automaticamente">
            <a:extLst>
              <a:ext uri="{FF2B5EF4-FFF2-40B4-BE49-F238E27FC236}">
                <a16:creationId xmlns:a16="http://schemas.microsoft.com/office/drawing/2014/main" id="{BDEBD6E7-DFBC-771D-5F30-6203A4788E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1756" y="1793226"/>
            <a:ext cx="6917466" cy="487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4596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675C868F-BB03-4183-A8D1-74CA61DAA3E6}"/>
              </a:ext>
            </a:extLst>
          </p:cNvPr>
          <p:cNvSpPr txBox="1"/>
          <p:nvPr/>
        </p:nvSpPr>
        <p:spPr>
          <a:xfrm>
            <a:off x="511439" y="453777"/>
            <a:ext cx="84230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Explicação sobre o Case Desenvolvido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382AFF-F701-84FF-0590-14AEBC07DA98}"/>
              </a:ext>
            </a:extLst>
          </p:cNvPr>
          <p:cNvSpPr txBox="1"/>
          <p:nvPr/>
        </p:nvSpPr>
        <p:spPr>
          <a:xfrm>
            <a:off x="511438" y="1091536"/>
            <a:ext cx="11451962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AutoNum type="arabicPeriod" startAt="4"/>
            </a:pPr>
            <a:r>
              <a:rPr lang="pt-BR" sz="2400" dirty="0">
                <a:solidFill>
                  <a:schemeClr val="bg1"/>
                </a:solidFill>
              </a:rPr>
              <a:t>Validação dos dados com SODA</a:t>
            </a:r>
          </a:p>
          <a:p>
            <a:pPr marL="914400" lvl="1" indent="-457200" algn="just">
              <a:buFont typeface="Wingdings" panose="05000000000000000000" pitchFamily="2" charset="2"/>
              <a:buChar char="§"/>
            </a:pPr>
            <a:r>
              <a:rPr lang="pt-BR" sz="2200" dirty="0">
                <a:solidFill>
                  <a:schemeClr val="bg1"/>
                </a:solidFill>
              </a:rPr>
              <a:t>Dag </a:t>
            </a:r>
            <a:r>
              <a:rPr lang="pt-BR" sz="2200" i="1" dirty="0" err="1">
                <a:solidFill>
                  <a:schemeClr val="bg1"/>
                </a:solidFill>
              </a:rPr>
              <a:t>check_transform</a:t>
            </a:r>
            <a:endParaRPr lang="pt-BR" sz="2200" i="1" dirty="0">
              <a:solidFill>
                <a:schemeClr val="bg1"/>
              </a:solidFill>
            </a:endParaRPr>
          </a:p>
          <a:p>
            <a:pPr marL="1371600" lvl="2" indent="-457200" algn="just">
              <a:buFont typeface="Courier New" panose="02070309020205020404" pitchFamily="49" charset="0"/>
              <a:buChar char="o"/>
            </a:pPr>
            <a:r>
              <a:rPr lang="pt-BR" sz="2000" dirty="0">
                <a:solidFill>
                  <a:schemeClr val="bg1"/>
                </a:solidFill>
              </a:rPr>
              <a:t>Executada em um ambiente Python externo (</a:t>
            </a:r>
            <a:r>
              <a:rPr lang="pt-BR" sz="2000" i="1" dirty="0">
                <a:solidFill>
                  <a:schemeClr val="bg1"/>
                </a:solidFill>
              </a:rPr>
              <a:t>@task.external_python</a:t>
            </a:r>
            <a:r>
              <a:rPr lang="pt-BR" sz="2000" dirty="0">
                <a:solidFill>
                  <a:schemeClr val="bg1"/>
                </a:solidFill>
              </a:rPr>
              <a:t>).</a:t>
            </a:r>
            <a:endParaRPr lang="pt-BR" sz="700" dirty="0">
              <a:solidFill>
                <a:schemeClr val="bg1"/>
              </a:solidFill>
            </a:endParaRPr>
          </a:p>
          <a:p>
            <a:pPr marL="1371600" lvl="2" indent="-457200" algn="just">
              <a:buFont typeface="Courier New" panose="02070309020205020404" pitchFamily="49" charset="0"/>
              <a:buChar char="o"/>
            </a:pPr>
            <a:r>
              <a:rPr lang="pt-BR" sz="2000" dirty="0">
                <a:solidFill>
                  <a:schemeClr val="bg1"/>
                </a:solidFill>
              </a:rPr>
              <a:t>Validações como: formato de dados, dados únicos, valores nulos e extremos.</a:t>
            </a:r>
          </a:p>
          <a:p>
            <a:pPr marL="1371600" lvl="2" indent="-457200">
              <a:buFont typeface="Courier New" panose="02070309020205020404" pitchFamily="49" charset="0"/>
              <a:buChar char="o"/>
            </a:pPr>
            <a:endParaRPr lang="pt-BR" sz="2200" dirty="0">
              <a:solidFill>
                <a:schemeClr val="bg1"/>
              </a:solidFill>
            </a:endParaRPr>
          </a:p>
          <a:p>
            <a:pPr marL="1371600" lvl="2" indent="-457200">
              <a:buFont typeface="Courier New" panose="02070309020205020404" pitchFamily="49" charset="0"/>
              <a:buChar char="o"/>
            </a:pPr>
            <a:endParaRPr lang="pt-BR" sz="2200" dirty="0">
              <a:solidFill>
                <a:schemeClr val="bg1"/>
              </a:solidFill>
            </a:endParaRPr>
          </a:p>
        </p:txBody>
      </p:sp>
      <p:pic>
        <p:nvPicPr>
          <p:cNvPr id="5" name="Imagem 4" descr="Interface gráfica do usuário, Aplicativo&#10;&#10;Descrição gerada automaticamente">
            <a:extLst>
              <a:ext uri="{FF2B5EF4-FFF2-40B4-BE49-F238E27FC236}">
                <a16:creationId xmlns:a16="http://schemas.microsoft.com/office/drawing/2014/main" id="{956B0F69-53C3-FA6C-567E-4D7048BADF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9234" y="2512089"/>
            <a:ext cx="5091526" cy="4240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296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675C868F-BB03-4183-A8D1-74CA61DAA3E6}"/>
              </a:ext>
            </a:extLst>
          </p:cNvPr>
          <p:cNvSpPr txBox="1"/>
          <p:nvPr/>
        </p:nvSpPr>
        <p:spPr>
          <a:xfrm>
            <a:off x="511439" y="453777"/>
            <a:ext cx="84230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Explicação sobre o Case Desenvolvido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382AFF-F701-84FF-0590-14AEBC07DA98}"/>
              </a:ext>
            </a:extLst>
          </p:cNvPr>
          <p:cNvSpPr txBox="1"/>
          <p:nvPr/>
        </p:nvSpPr>
        <p:spPr>
          <a:xfrm>
            <a:off x="511438" y="1342741"/>
            <a:ext cx="11024070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>
                <a:solidFill>
                  <a:schemeClr val="bg1"/>
                </a:solidFill>
              </a:rPr>
              <a:t>5.   Criação de Tabelas </a:t>
            </a:r>
            <a:r>
              <a:rPr lang="pt-BR" sz="2400" dirty="0" err="1">
                <a:solidFill>
                  <a:schemeClr val="bg1"/>
                </a:solidFill>
              </a:rPr>
              <a:t>report</a:t>
            </a:r>
            <a:r>
              <a:rPr lang="pt-BR" sz="2400" dirty="0">
                <a:solidFill>
                  <a:schemeClr val="bg1"/>
                </a:solidFill>
              </a:rPr>
              <a:t> no </a:t>
            </a:r>
            <a:r>
              <a:rPr lang="pt-BR" sz="2400" dirty="0" err="1">
                <a:solidFill>
                  <a:schemeClr val="bg1"/>
                </a:solidFill>
              </a:rPr>
              <a:t>BigQuery</a:t>
            </a:r>
            <a:r>
              <a:rPr lang="pt-BR" sz="2400" dirty="0">
                <a:solidFill>
                  <a:schemeClr val="bg1"/>
                </a:solidFill>
              </a:rPr>
              <a:t> com </a:t>
            </a:r>
            <a:r>
              <a:rPr lang="pt-BR" sz="2400" dirty="0" err="1">
                <a:solidFill>
                  <a:schemeClr val="bg1"/>
                </a:solidFill>
              </a:rPr>
              <a:t>dbt</a:t>
            </a:r>
            <a:endParaRPr lang="pt-BR" sz="2400" dirty="0">
              <a:solidFill>
                <a:schemeClr val="bg1"/>
              </a:solidFill>
            </a:endParaRP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pt-BR" sz="2200" dirty="0">
                <a:solidFill>
                  <a:schemeClr val="bg1"/>
                </a:solidFill>
              </a:rPr>
              <a:t>Tabelas criadas através da </a:t>
            </a:r>
            <a:r>
              <a:rPr lang="pt-BR" sz="2200" dirty="0" err="1">
                <a:solidFill>
                  <a:schemeClr val="bg1"/>
                </a:solidFill>
              </a:rPr>
              <a:t>dag</a:t>
            </a:r>
            <a:r>
              <a:rPr lang="pt-BR" sz="2200" dirty="0">
                <a:solidFill>
                  <a:schemeClr val="bg1"/>
                </a:solidFill>
              </a:rPr>
              <a:t> </a:t>
            </a:r>
            <a:r>
              <a:rPr lang="pt-BR" sz="2200" i="1" dirty="0" err="1">
                <a:solidFill>
                  <a:schemeClr val="bg1"/>
                </a:solidFill>
              </a:rPr>
              <a:t>report</a:t>
            </a:r>
            <a:r>
              <a:rPr lang="pt-BR" sz="2200" dirty="0">
                <a:solidFill>
                  <a:schemeClr val="bg1"/>
                </a:solidFill>
              </a:rPr>
              <a:t>:</a:t>
            </a:r>
          </a:p>
          <a:p>
            <a:pPr marL="1257300" lvl="2" indent="-342900" algn="just">
              <a:buFont typeface="Courier New" panose="02070309020205020404" pitchFamily="49" charset="0"/>
              <a:buChar char="o"/>
            </a:pPr>
            <a:r>
              <a:rPr lang="pt-BR" sz="2000" dirty="0">
                <a:solidFill>
                  <a:schemeClr val="bg1"/>
                </a:solidFill>
              </a:rPr>
              <a:t>report_ind1_cidades_ano: As 10 cidades com o maior valor percentual referente ao indicador_1 (</a:t>
            </a:r>
            <a:r>
              <a:rPr lang="pt-BR" sz="2000" b="1" dirty="0">
                <a:solidFill>
                  <a:schemeClr val="bg1"/>
                </a:solidFill>
              </a:rPr>
              <a:t>endividamento</a:t>
            </a:r>
            <a:r>
              <a:rPr lang="pt-BR" sz="2000" dirty="0">
                <a:solidFill>
                  <a:schemeClr val="bg1"/>
                </a:solidFill>
              </a:rPr>
              <a:t>).</a:t>
            </a:r>
          </a:p>
          <a:p>
            <a:pPr marL="1085850" lvl="2" indent="-171450" algn="just">
              <a:buFont typeface="Courier New" panose="02070309020205020404" pitchFamily="49" charset="0"/>
              <a:buChar char="o"/>
            </a:pPr>
            <a:endParaRPr lang="pt-BR" sz="2000" dirty="0">
              <a:solidFill>
                <a:schemeClr val="bg1"/>
              </a:solidFill>
            </a:endParaRPr>
          </a:p>
          <a:p>
            <a:pPr marL="1257300" lvl="2" indent="-342900" algn="just">
              <a:buFont typeface="Courier New" panose="02070309020205020404" pitchFamily="49" charset="0"/>
              <a:buChar char="o"/>
            </a:pPr>
            <a:r>
              <a:rPr lang="pt-BR" sz="2000" dirty="0">
                <a:solidFill>
                  <a:schemeClr val="bg1"/>
                </a:solidFill>
              </a:rPr>
              <a:t>report_ind2_cidades_ano: As 10 cidades com o maior valor percentual referente ao indicador_2 (</a:t>
            </a:r>
            <a:r>
              <a:rPr lang="pt-BR" sz="2000" b="1" dirty="0">
                <a:solidFill>
                  <a:schemeClr val="bg1"/>
                </a:solidFill>
              </a:rPr>
              <a:t>poupança corrente</a:t>
            </a:r>
            <a:r>
              <a:rPr lang="pt-BR" sz="2000" dirty="0">
                <a:solidFill>
                  <a:schemeClr val="bg1"/>
                </a:solidFill>
              </a:rPr>
              <a:t>). </a:t>
            </a:r>
          </a:p>
          <a:p>
            <a:pPr marL="1257300" lvl="2" indent="-342900" algn="just">
              <a:buFont typeface="Courier New" panose="02070309020205020404" pitchFamily="49" charset="0"/>
              <a:buChar char="o"/>
            </a:pPr>
            <a:endParaRPr lang="pt-BR" sz="2000" dirty="0">
              <a:solidFill>
                <a:schemeClr val="bg1"/>
              </a:solidFill>
            </a:endParaRPr>
          </a:p>
          <a:p>
            <a:pPr marL="1257300" lvl="2" indent="-342900" algn="just">
              <a:buFont typeface="Courier New" panose="02070309020205020404" pitchFamily="49" charset="0"/>
              <a:buChar char="o"/>
            </a:pPr>
            <a:r>
              <a:rPr lang="pt-BR" sz="2000" dirty="0">
                <a:solidFill>
                  <a:schemeClr val="bg1"/>
                </a:solidFill>
              </a:rPr>
              <a:t>report_ind3_cidades_ano: As 10 cidades com o maior valor percentual referente ao indicador_3 (</a:t>
            </a:r>
            <a:r>
              <a:rPr lang="pt-BR" sz="2000" b="1" dirty="0">
                <a:solidFill>
                  <a:schemeClr val="bg1"/>
                </a:solidFill>
              </a:rPr>
              <a:t>liquidez</a:t>
            </a:r>
            <a:r>
              <a:rPr lang="pt-BR" sz="2000" dirty="0">
                <a:solidFill>
                  <a:schemeClr val="bg1"/>
                </a:solidFill>
              </a:rPr>
              <a:t>). </a:t>
            </a:r>
          </a:p>
          <a:p>
            <a:pPr marL="1257300" lvl="2" indent="-342900" algn="just">
              <a:buFont typeface="Courier New" panose="02070309020205020404" pitchFamily="49" charset="0"/>
              <a:buChar char="o"/>
            </a:pPr>
            <a:endParaRPr lang="pt-BR" sz="2000" dirty="0">
              <a:solidFill>
                <a:schemeClr val="bg1"/>
              </a:solidFill>
            </a:endParaRPr>
          </a:p>
          <a:p>
            <a:pPr marL="1257300" lvl="2" indent="-342900" algn="just">
              <a:buFont typeface="Courier New" panose="02070309020205020404" pitchFamily="49" charset="0"/>
              <a:buChar char="o"/>
            </a:pPr>
            <a:r>
              <a:rPr lang="pt-BR" sz="2000" dirty="0" err="1">
                <a:solidFill>
                  <a:schemeClr val="bg1"/>
                </a:solidFill>
              </a:rPr>
              <a:t>report_classificacao_uf</a:t>
            </a:r>
            <a:r>
              <a:rPr lang="pt-BR" sz="2000" dirty="0">
                <a:solidFill>
                  <a:schemeClr val="bg1"/>
                </a:solidFill>
              </a:rPr>
              <a:t>: Os 10 estados brasileiros com o maior número de cidades com </a:t>
            </a:r>
            <a:r>
              <a:rPr lang="pt-BR" sz="2000" b="1" dirty="0">
                <a:solidFill>
                  <a:schemeClr val="bg1"/>
                </a:solidFill>
              </a:rPr>
              <a:t>classificação </a:t>
            </a:r>
            <a:r>
              <a:rPr lang="pt-BR" sz="2000" b="1" dirty="0" err="1">
                <a:solidFill>
                  <a:schemeClr val="bg1"/>
                </a:solidFill>
              </a:rPr>
              <a:t>capag</a:t>
            </a:r>
            <a:r>
              <a:rPr lang="pt-BR" sz="2000" b="1" dirty="0">
                <a:solidFill>
                  <a:schemeClr val="bg1"/>
                </a:solidFill>
              </a:rPr>
              <a:t> como A</a:t>
            </a:r>
            <a:r>
              <a:rPr lang="pt-BR" sz="20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195579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675C868F-BB03-4183-A8D1-74CA61DAA3E6}"/>
              </a:ext>
            </a:extLst>
          </p:cNvPr>
          <p:cNvSpPr txBox="1"/>
          <p:nvPr/>
        </p:nvSpPr>
        <p:spPr>
          <a:xfrm>
            <a:off x="511439" y="453777"/>
            <a:ext cx="84230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Explicação sobre o Case Desenvolvido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382AFF-F701-84FF-0590-14AEBC07DA98}"/>
              </a:ext>
            </a:extLst>
          </p:cNvPr>
          <p:cNvSpPr txBox="1"/>
          <p:nvPr/>
        </p:nvSpPr>
        <p:spPr>
          <a:xfrm>
            <a:off x="511438" y="1349944"/>
            <a:ext cx="1145196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BR" sz="2400" dirty="0">
                <a:solidFill>
                  <a:schemeClr val="bg1"/>
                </a:solidFill>
              </a:rPr>
              <a:t>6.   Criação de Dashboard no </a:t>
            </a:r>
            <a:r>
              <a:rPr lang="pt-BR" sz="2400" dirty="0" err="1">
                <a:solidFill>
                  <a:schemeClr val="bg1"/>
                </a:solidFill>
              </a:rPr>
              <a:t>Metabase</a:t>
            </a:r>
            <a:endParaRPr lang="pt-BR" sz="2400" dirty="0">
              <a:solidFill>
                <a:schemeClr val="bg1"/>
              </a:solidFill>
            </a:endParaRPr>
          </a:p>
          <a:p>
            <a:endParaRPr lang="pt-BR" sz="2200" dirty="0">
              <a:solidFill>
                <a:schemeClr val="bg1"/>
              </a:solidFill>
            </a:endParaRPr>
          </a:p>
          <a:p>
            <a:endParaRPr lang="pt-BR" sz="2200" dirty="0">
              <a:solidFill>
                <a:schemeClr val="bg1"/>
              </a:solidFill>
            </a:endParaRPr>
          </a:p>
          <a:p>
            <a:endParaRPr lang="pt-BR" sz="2200" dirty="0">
              <a:solidFill>
                <a:schemeClr val="bg1"/>
              </a:solidFill>
            </a:endParaRPr>
          </a:p>
          <a:p>
            <a:pPr marL="914400" lvl="1" indent="-457200">
              <a:buFont typeface="Wingdings" panose="05000000000000000000" pitchFamily="2" charset="2"/>
              <a:buChar char="§"/>
            </a:pPr>
            <a:endParaRPr lang="pt-BR" sz="2200" i="1" dirty="0">
              <a:solidFill>
                <a:schemeClr val="bg1"/>
              </a:solidFill>
            </a:endParaRPr>
          </a:p>
        </p:txBody>
      </p:sp>
      <p:pic>
        <p:nvPicPr>
          <p:cNvPr id="5" name="Imagem 4" descr="Interface gráfica do usuário, Gráfico&#10;&#10;Descrição gerada automaticamente">
            <a:extLst>
              <a:ext uri="{FF2B5EF4-FFF2-40B4-BE49-F238E27FC236}">
                <a16:creationId xmlns:a16="http://schemas.microsoft.com/office/drawing/2014/main" id="{FD2DE3E6-5C05-A496-971B-420380FE3A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4585" y="1904368"/>
            <a:ext cx="9542829" cy="4817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8424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675C868F-BB03-4183-A8D1-74CA61DAA3E6}"/>
              </a:ext>
            </a:extLst>
          </p:cNvPr>
          <p:cNvSpPr txBox="1"/>
          <p:nvPr/>
        </p:nvSpPr>
        <p:spPr>
          <a:xfrm>
            <a:off x="511439" y="453777"/>
            <a:ext cx="86775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BR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Melhorias</a:t>
            </a: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39958256-7F1B-45D6-BA64-8E7D4287A3FD}"/>
              </a:ext>
            </a:extLst>
          </p:cNvPr>
          <p:cNvSpPr txBox="1"/>
          <p:nvPr/>
        </p:nvSpPr>
        <p:spPr>
          <a:xfrm>
            <a:off x="511439" y="1430959"/>
            <a:ext cx="11014020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</a:rPr>
              <a:t>Automação do Pipeline de Dados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pt-BR" sz="2200" dirty="0">
                <a:solidFill>
                  <a:schemeClr val="bg1"/>
                </a:solidFill>
              </a:rPr>
              <a:t>Atualização automática do arquivo CAPAG e a execução programada no </a:t>
            </a:r>
            <a:r>
              <a:rPr lang="pt-BR" sz="2200" dirty="0" err="1">
                <a:solidFill>
                  <a:schemeClr val="bg1"/>
                </a:solidFill>
              </a:rPr>
              <a:t>Airflow</a:t>
            </a:r>
            <a:r>
              <a:rPr lang="pt-BR" sz="2200" dirty="0">
                <a:solidFill>
                  <a:schemeClr val="bg1"/>
                </a:solidFill>
              </a:rPr>
              <a:t>.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endParaRPr lang="pt-BR" sz="800" dirty="0">
              <a:solidFill>
                <a:schemeClr val="bg1"/>
              </a:solidFill>
            </a:endParaRP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pt-BR" sz="2200" dirty="0">
                <a:solidFill>
                  <a:schemeClr val="bg1"/>
                </a:solidFill>
              </a:rPr>
              <a:t>Criação de </a:t>
            </a:r>
            <a:r>
              <a:rPr lang="pt-BR" sz="2200" dirty="0" err="1">
                <a:solidFill>
                  <a:schemeClr val="bg1"/>
                </a:solidFill>
              </a:rPr>
              <a:t>DAGs</a:t>
            </a:r>
            <a:r>
              <a:rPr lang="pt-BR" sz="2200" dirty="0">
                <a:solidFill>
                  <a:schemeClr val="bg1"/>
                </a:solidFill>
              </a:rPr>
              <a:t> para a transformação da extensão em </a:t>
            </a:r>
            <a:r>
              <a:rPr lang="pt-BR" sz="2200" i="1" dirty="0">
                <a:solidFill>
                  <a:schemeClr val="bg1"/>
                </a:solidFill>
              </a:rPr>
              <a:t>.</a:t>
            </a:r>
            <a:r>
              <a:rPr lang="pt-BR" sz="2200" i="1" dirty="0" err="1">
                <a:solidFill>
                  <a:schemeClr val="bg1"/>
                </a:solidFill>
              </a:rPr>
              <a:t>csv</a:t>
            </a:r>
            <a:r>
              <a:rPr lang="pt-BR" sz="2200" i="1" dirty="0">
                <a:solidFill>
                  <a:schemeClr val="bg1"/>
                </a:solidFill>
              </a:rPr>
              <a:t> </a:t>
            </a:r>
            <a:r>
              <a:rPr lang="pt-BR" sz="2200" dirty="0">
                <a:solidFill>
                  <a:schemeClr val="bg1"/>
                </a:solidFill>
              </a:rPr>
              <a:t>dos arquivos de origem.</a:t>
            </a:r>
          </a:p>
          <a:p>
            <a:pPr lvl="1" algn="just"/>
            <a:endParaRPr lang="pt-BR" sz="2400" dirty="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</a:rPr>
              <a:t>Monitoramento Contínuo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pt-BR" sz="2200" dirty="0">
                <a:solidFill>
                  <a:schemeClr val="bg1"/>
                </a:solidFill>
              </a:rPr>
              <a:t>Utilizar o SODA para configurar alertas e monitoramento contínuo da qualidade dos dados.</a:t>
            </a:r>
          </a:p>
          <a:p>
            <a:pPr algn="just"/>
            <a:endParaRPr lang="pt-BR" sz="2400" dirty="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</a:rPr>
              <a:t>Expansão das Visualizações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pt-BR" sz="2200" dirty="0">
                <a:solidFill>
                  <a:schemeClr val="bg1"/>
                </a:solidFill>
              </a:rPr>
              <a:t>Adicionar mais tipos de visualizações no </a:t>
            </a:r>
            <a:r>
              <a:rPr lang="pt-BR" sz="2200" dirty="0" err="1">
                <a:solidFill>
                  <a:schemeClr val="bg1"/>
                </a:solidFill>
              </a:rPr>
              <a:t>Metabase</a:t>
            </a:r>
            <a:r>
              <a:rPr lang="pt-BR" sz="2200" dirty="0">
                <a:solidFill>
                  <a:schemeClr val="bg1"/>
                </a:solidFill>
              </a:rPr>
              <a:t> para obter insights mais profundos.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endParaRPr lang="pt-BR" sz="800" dirty="0">
              <a:solidFill>
                <a:schemeClr val="bg1"/>
              </a:solidFill>
            </a:endParaRP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pt-BR" sz="2200" dirty="0">
                <a:solidFill>
                  <a:schemeClr val="bg1"/>
                </a:solidFill>
              </a:rPr>
              <a:t>Incluir filtros dinâmicos para permitir uma análise mais detalhada dos dados.</a:t>
            </a:r>
          </a:p>
          <a:p>
            <a:endParaRPr lang="pt-BR" sz="1800" b="0" i="0" u="none" strike="noStrike" baseline="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05353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675C868F-BB03-4183-A8D1-74CA61DAA3E6}"/>
              </a:ext>
            </a:extLst>
          </p:cNvPr>
          <p:cNvSpPr txBox="1"/>
          <p:nvPr/>
        </p:nvSpPr>
        <p:spPr>
          <a:xfrm>
            <a:off x="511439" y="453777"/>
            <a:ext cx="86775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BR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Considerações Finais</a:t>
            </a: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39958256-7F1B-45D6-BA64-8E7D4287A3FD}"/>
              </a:ext>
            </a:extLst>
          </p:cNvPr>
          <p:cNvSpPr txBox="1"/>
          <p:nvPr/>
        </p:nvSpPr>
        <p:spPr>
          <a:xfrm>
            <a:off x="507179" y="1493139"/>
            <a:ext cx="11068522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</a:rPr>
              <a:t>Entendimento de como funciona o processo do CAPAG, essencial para avaliar a saúde fiscal dos estados e municípios, promovendo a responsabilidade fiscal e ajudando a manter a estabilidade econômica do país.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400" dirty="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</a:rPr>
              <a:t>Capacidade de transformar dados brutos em informações valiosas através de um pipeline de ETL bem definido e ferramentas de Engenharia de Dados poderosas.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400" dirty="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</a:rPr>
              <a:t>A utilização de tecnologias como </a:t>
            </a:r>
            <a:r>
              <a:rPr lang="pt-BR" sz="2400" dirty="0" err="1">
                <a:solidFill>
                  <a:schemeClr val="bg1"/>
                </a:solidFill>
              </a:rPr>
              <a:t>BigQuery</a:t>
            </a:r>
            <a:r>
              <a:rPr lang="pt-BR" sz="2400" dirty="0">
                <a:solidFill>
                  <a:schemeClr val="bg1"/>
                </a:solidFill>
              </a:rPr>
              <a:t>, </a:t>
            </a:r>
            <a:r>
              <a:rPr lang="pt-BR" sz="2400" dirty="0" err="1">
                <a:solidFill>
                  <a:schemeClr val="bg1"/>
                </a:solidFill>
              </a:rPr>
              <a:t>dbt</a:t>
            </a:r>
            <a:r>
              <a:rPr lang="pt-BR" sz="2400" dirty="0">
                <a:solidFill>
                  <a:schemeClr val="bg1"/>
                </a:solidFill>
              </a:rPr>
              <a:t>, SODA e </a:t>
            </a:r>
            <a:r>
              <a:rPr lang="pt-BR" sz="2400" dirty="0" err="1">
                <a:solidFill>
                  <a:schemeClr val="bg1"/>
                </a:solidFill>
              </a:rPr>
              <a:t>Metabase</a:t>
            </a:r>
            <a:r>
              <a:rPr lang="pt-BR" sz="2400" dirty="0">
                <a:solidFill>
                  <a:schemeClr val="bg1"/>
                </a:solidFill>
              </a:rPr>
              <a:t> permitiu a criação de um sistema robusto e escalável para análise de dados. </a:t>
            </a:r>
          </a:p>
          <a:p>
            <a:pPr algn="just"/>
            <a:endParaRPr lang="pt-BR" sz="2400" dirty="0">
              <a:solidFill>
                <a:schemeClr val="bg1"/>
              </a:solidFill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</a:rPr>
              <a:t>Repositório:</a:t>
            </a:r>
            <a:endParaRPr lang="pt-BR" sz="800" dirty="0">
              <a:solidFill>
                <a:schemeClr val="bg1"/>
              </a:solidFill>
            </a:endParaRP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pt-BR" sz="2200" dirty="0">
                <a:solidFill>
                  <a:schemeClr val="bg1"/>
                </a:solidFill>
              </a:rPr>
              <a:t>https://github.com/BretsCampos/DATA_MASTER</a:t>
            </a:r>
          </a:p>
        </p:txBody>
      </p:sp>
    </p:spTree>
    <p:extLst>
      <p:ext uri="{BB962C8B-B14F-4D97-AF65-F5344CB8AC3E}">
        <p14:creationId xmlns:p14="http://schemas.microsoft.com/office/powerpoint/2010/main" val="24173567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342059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19910</TotalTime>
  <Words>785</Words>
  <Application>Microsoft Office PowerPoint</Application>
  <PresentationFormat>Widescreen</PresentationFormat>
  <Paragraphs>126</Paragraphs>
  <Slides>14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Courier New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Gabriela Araujo Silva</dc:creator>
  <cp:lastModifiedBy>Thalitta Careli</cp:lastModifiedBy>
  <cp:revision>232</cp:revision>
  <dcterms:created xsi:type="dcterms:W3CDTF">2021-07-28T15:43:43Z</dcterms:created>
  <dcterms:modified xsi:type="dcterms:W3CDTF">2024-07-25T12:18:54Z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1b88ec2-a72b-4523-9e84-0458a1764731_Enabled">
    <vt:lpwstr>true</vt:lpwstr>
  </property>
  <property fmtid="{D5CDD505-2E9C-101B-9397-08002B2CF9AE}" pid="3" name="MSIP_Label_41b88ec2-a72b-4523-9e84-0458a1764731_SetDate">
    <vt:lpwstr>2024-07-12T16:59:49Z</vt:lpwstr>
  </property>
  <property fmtid="{D5CDD505-2E9C-101B-9397-08002B2CF9AE}" pid="4" name="MSIP_Label_41b88ec2-a72b-4523-9e84-0458a1764731_Method">
    <vt:lpwstr>Privileged</vt:lpwstr>
  </property>
  <property fmtid="{D5CDD505-2E9C-101B-9397-08002B2CF9AE}" pid="5" name="MSIP_Label_41b88ec2-a72b-4523-9e84-0458a1764731_Name">
    <vt:lpwstr>Public O365</vt:lpwstr>
  </property>
  <property fmtid="{D5CDD505-2E9C-101B-9397-08002B2CF9AE}" pid="6" name="MSIP_Label_41b88ec2-a72b-4523-9e84-0458a1764731_SiteId">
    <vt:lpwstr>35595a02-4d6d-44ac-99e1-f9ab4cd872db</vt:lpwstr>
  </property>
  <property fmtid="{D5CDD505-2E9C-101B-9397-08002B2CF9AE}" pid="7" name="MSIP_Label_41b88ec2-a72b-4523-9e84-0458a1764731_ActionId">
    <vt:lpwstr>f2b701c6-69c3-4910-81c0-9a21f37fce09</vt:lpwstr>
  </property>
  <property fmtid="{D5CDD505-2E9C-101B-9397-08002B2CF9AE}" pid="8" name="MSIP_Label_41b88ec2-a72b-4523-9e84-0458a1764731_ContentBits">
    <vt:lpwstr>0</vt:lpwstr>
  </property>
</Properties>
</file>